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Inter Bold" charset="1" panose="02000503000000020004"/>
      <p:regular r:id="rId11"/>
    </p:embeddedFont>
    <p:embeddedFont>
      <p:font typeface="DM Sans Bold" charset="1" panose="00000000000000000000"/>
      <p:regular r:id="rId12"/>
    </p:embeddedFont>
    <p:embeddedFont>
      <p:font typeface="Inter" charset="1" panose="02000503000000020004"/>
      <p:regular r:id="rId13"/>
    </p:embeddedFont>
    <p:embeddedFont>
      <p:font typeface="DM Sans Italics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684" t="0" r="-4868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9144000" cy="10287000"/>
            <a:chOff x="0" y="0"/>
            <a:chExt cx="12192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9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192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43000" y="1714500"/>
            <a:ext cx="762000" cy="57150"/>
            <a:chOff x="0" y="0"/>
            <a:chExt cx="1016000" cy="76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6000" cy="76200"/>
            </a:xfrm>
            <a:custGeom>
              <a:avLst/>
              <a:gdLst/>
              <a:ahLst/>
              <a:cxnLst/>
              <a:rect r="r" b="b" t="t" l="l"/>
              <a:pathLst>
                <a:path h="762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16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43000" y="1952625"/>
            <a:ext cx="66675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0" b="true">
                <a:solidFill>
                  <a:srgbClr val="2F6BFF"/>
                </a:solidFill>
                <a:latin typeface="Inter Bold"/>
                <a:ea typeface="Inter Bold"/>
                <a:cs typeface="Inter Bold"/>
                <a:sym typeface="Inter Bold"/>
              </a:rPr>
              <a:t>Propuesta 2025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2600325"/>
            <a:ext cx="7810500" cy="2812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4"/>
              </a:lnSpc>
            </a:pPr>
            <a:r>
              <a:rPr lang="en-US" sz="7200" b="true">
                <a:solidFill>
                  <a:srgbClr val="0F2C5C"/>
                </a:solidFill>
                <a:latin typeface="DM Sans Bold"/>
                <a:ea typeface="DM Sans Bold"/>
                <a:cs typeface="DM Sans Bold"/>
                <a:sym typeface="DM Sans Bold"/>
              </a:rPr>
              <a:t>Sistema de Gestión de Inventario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5746242"/>
            <a:ext cx="74295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5B6474"/>
                </a:solidFill>
                <a:latin typeface="Inter"/>
                <a:ea typeface="Inter"/>
                <a:cs typeface="Inter"/>
                <a:sym typeface="Inter"/>
              </a:rPr>
              <a:t>Optimización del control de stock en una distribuidora de gaseosas.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8934450"/>
            <a:ext cx="6667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>
                <a:solidFill>
                  <a:srgbClr val="5B6474"/>
                </a:solidFill>
                <a:latin typeface="Inter"/>
                <a:ea typeface="Inter"/>
                <a:cs typeface="Inter"/>
                <a:sym typeface="Inter"/>
              </a:rPr>
              <a:t>Logística · Almacén · FIFO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14300" cy="10287000"/>
            <a:chOff x="0" y="0"/>
            <a:chExt cx="152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2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1095375"/>
            <a:ext cx="57150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0" b="true">
                <a:solidFill>
                  <a:srgbClr val="2F6BFF"/>
                </a:solidFill>
                <a:latin typeface="Inter Bold"/>
                <a:ea typeface="Inter Bold"/>
                <a:cs typeface="Inter Bold"/>
                <a:sym typeface="Inter Bold"/>
              </a:rPr>
              <a:t>01 · Contexto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571625"/>
            <a:ext cx="114300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0F2C5C"/>
                </a:solidFill>
                <a:latin typeface="DM Sans Bold"/>
                <a:ea typeface="DM Sans Bold"/>
                <a:cs typeface="DM Sans Bold"/>
                <a:sym typeface="DM Sans Bold"/>
              </a:rPr>
              <a:t>El problema actual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2428875"/>
            <a:ext cx="104775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5B6474"/>
                </a:solidFill>
                <a:latin typeface="Inter"/>
                <a:ea typeface="Inter"/>
                <a:cs typeface="Inter"/>
                <a:sym typeface="Inter"/>
              </a:rPr>
              <a:t>Fallas operativas que impactan directamente en las pérdidas de la distribuidora.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43000" y="3810000"/>
            <a:ext cx="6667500" cy="457200"/>
            <a:chOff x="0" y="0"/>
            <a:chExt cx="8890000" cy="6096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7620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2F6B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016000" y="63500"/>
              <a:ext cx="7874000" cy="433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1950">
                  <a:solidFill>
                    <a:srgbClr val="0F2C5C"/>
                  </a:solidFill>
                  <a:latin typeface="Inter"/>
                  <a:ea typeface="Inter"/>
                  <a:cs typeface="Inter"/>
                  <a:sym typeface="Inter"/>
                </a:rPr>
                <a:t>Productos vencidos en almacén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3000" y="4667250"/>
            <a:ext cx="6667500" cy="457200"/>
            <a:chOff x="0" y="0"/>
            <a:chExt cx="8890000" cy="6096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7620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2F6B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016000" y="63500"/>
              <a:ext cx="7874000" cy="433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1950">
                  <a:solidFill>
                    <a:srgbClr val="0F2C5C"/>
                  </a:solidFill>
                  <a:latin typeface="Inter"/>
                  <a:ea typeface="Inter"/>
                  <a:cs typeface="Inter"/>
                  <a:sym typeface="Inter"/>
                </a:rPr>
                <a:t>Mal control del inventario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3000" y="5524500"/>
            <a:ext cx="6667500" cy="457200"/>
            <a:chOff x="0" y="0"/>
            <a:chExt cx="8890000" cy="60960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66675"/>
              <a:ext cx="7620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2F6B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016000" y="63500"/>
              <a:ext cx="7874000" cy="433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1950">
                  <a:solidFill>
                    <a:srgbClr val="0F2C5C"/>
                  </a:solidFill>
                  <a:latin typeface="Inter"/>
                  <a:ea typeface="Inter"/>
                  <a:cs typeface="Inter"/>
                  <a:sym typeface="Inter"/>
                </a:rPr>
                <a:t>No existe seguimiento del stock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43000" y="6381750"/>
            <a:ext cx="6667500" cy="457200"/>
            <a:chOff x="0" y="0"/>
            <a:chExt cx="8890000" cy="60960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66675"/>
              <a:ext cx="7620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2F6B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016000" y="63500"/>
              <a:ext cx="7874000" cy="433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1950">
                  <a:solidFill>
                    <a:srgbClr val="0F2C5C"/>
                  </a:solidFill>
                  <a:latin typeface="Inter"/>
                  <a:ea typeface="Inter"/>
                  <a:cs typeface="Inter"/>
                  <a:sym typeface="Inter"/>
                </a:rPr>
                <a:t>No se aplica correctamente el método FIFO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0" y="3619500"/>
            <a:ext cx="7810500" cy="5334000"/>
            <a:chOff x="0" y="0"/>
            <a:chExt cx="10414000" cy="7112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14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E8EEF9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414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525000" y="3867150"/>
            <a:ext cx="7048500" cy="33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 b="true">
                <a:solidFill>
                  <a:srgbClr val="0F2C5C"/>
                </a:solidFill>
                <a:latin typeface="Inter Bold"/>
                <a:ea typeface="Inter Bold"/>
                <a:cs typeface="Inter Bold"/>
                <a:sym typeface="Inter Bold"/>
              </a:rPr>
              <a:t>Flujo incorrecto actual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715500" y="4572000"/>
            <a:ext cx="6667500" cy="609600"/>
            <a:chOff x="0" y="0"/>
            <a:chExt cx="88900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890000" cy="812800"/>
            </a:xfrm>
            <a:custGeom>
              <a:avLst/>
              <a:gdLst/>
              <a:ahLst/>
              <a:cxnLst/>
              <a:rect r="r" b="b" t="t" l="l"/>
              <a:pathLst>
                <a:path h="8128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6B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8900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715500" y="4705350"/>
            <a:ext cx="6667500" cy="33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2"/>
              </a:lnSpc>
            </a:pPr>
            <a:r>
              <a:rPr lang="en-US" sz="1950" b="true">
                <a:solidFill>
                  <a:srgbClr val="2F6BFF"/>
                </a:solidFill>
                <a:latin typeface="Inter Bold"/>
                <a:ea typeface="Inter Bold"/>
                <a:cs typeface="Inter Bold"/>
                <a:sym typeface="Inter Bold"/>
              </a:rPr>
              <a:t>Llegan productos</a:t>
            </a:r>
          </a:p>
        </p:txBody>
      </p:sp>
      <p:sp>
        <p:nvSpPr>
          <p:cNvPr name="AutoShape 28" id="28"/>
          <p:cNvSpPr/>
          <p:nvPr/>
        </p:nvSpPr>
        <p:spPr>
          <a:xfrm>
            <a:off x="13049250" y="5314950"/>
            <a:ext cx="0" cy="190500"/>
          </a:xfrm>
          <a:prstGeom prst="line">
            <a:avLst/>
          </a:prstGeom>
          <a:ln cap="flat" w="28575">
            <a:solidFill>
              <a:srgbClr val="C9D0D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9715500" y="5572125"/>
            <a:ext cx="6667500" cy="609600"/>
            <a:chOff x="0" y="0"/>
            <a:chExt cx="88900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890000" cy="812800"/>
            </a:xfrm>
            <a:custGeom>
              <a:avLst/>
              <a:gdLst/>
              <a:ahLst/>
              <a:cxnLst/>
              <a:rect r="r" b="b" t="t" l="l"/>
              <a:pathLst>
                <a:path h="8128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6B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8900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715500" y="5705475"/>
            <a:ext cx="6667500" cy="33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2"/>
              </a:lnSpc>
            </a:pPr>
            <a:r>
              <a:rPr lang="en-US" sz="1950" b="true">
                <a:solidFill>
                  <a:srgbClr val="2F6BFF"/>
                </a:solidFill>
                <a:latin typeface="Inter Bold"/>
                <a:ea typeface="Inter Bold"/>
                <a:cs typeface="Inter Bold"/>
                <a:sym typeface="Inter Bold"/>
              </a:rPr>
              <a:t>Se venden los más nuevos</a:t>
            </a:r>
          </a:p>
        </p:txBody>
      </p:sp>
      <p:sp>
        <p:nvSpPr>
          <p:cNvPr name="AutoShape 33" id="33"/>
          <p:cNvSpPr/>
          <p:nvPr/>
        </p:nvSpPr>
        <p:spPr>
          <a:xfrm>
            <a:off x="13049250" y="6315075"/>
            <a:ext cx="0" cy="190500"/>
          </a:xfrm>
          <a:prstGeom prst="line">
            <a:avLst/>
          </a:prstGeom>
          <a:ln cap="flat" w="28575">
            <a:solidFill>
              <a:srgbClr val="C9D0D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9715500" y="6572250"/>
            <a:ext cx="6667500" cy="609600"/>
            <a:chOff x="0" y="0"/>
            <a:chExt cx="88900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890000" cy="812800"/>
            </a:xfrm>
            <a:custGeom>
              <a:avLst/>
              <a:gdLst/>
              <a:ahLst/>
              <a:cxnLst/>
              <a:rect r="r" b="b" t="t" l="l"/>
              <a:pathLst>
                <a:path h="8128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5B6474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8900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715500" y="6705600"/>
            <a:ext cx="6667500" cy="33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2"/>
              </a:lnSpc>
            </a:pPr>
            <a:r>
              <a:rPr lang="en-US" sz="1950" b="true">
                <a:solidFill>
                  <a:srgbClr val="5B6474"/>
                </a:solidFill>
                <a:latin typeface="Inter Bold"/>
                <a:ea typeface="Inter Bold"/>
                <a:cs typeface="Inter Bold"/>
                <a:sym typeface="Inter Bold"/>
              </a:rPr>
              <a:t>Los antiguos permanecen almacenados</a:t>
            </a:r>
          </a:p>
        </p:txBody>
      </p:sp>
      <p:sp>
        <p:nvSpPr>
          <p:cNvPr name="AutoShape 38" id="38"/>
          <p:cNvSpPr/>
          <p:nvPr/>
        </p:nvSpPr>
        <p:spPr>
          <a:xfrm>
            <a:off x="13049250" y="7315200"/>
            <a:ext cx="0" cy="190500"/>
          </a:xfrm>
          <a:prstGeom prst="line">
            <a:avLst/>
          </a:prstGeom>
          <a:ln cap="flat" w="28575">
            <a:solidFill>
              <a:srgbClr val="C9D0D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9715500" y="7572375"/>
            <a:ext cx="6667500" cy="609600"/>
            <a:chOff x="0" y="0"/>
            <a:chExt cx="88900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890000" cy="812800"/>
            </a:xfrm>
            <a:custGeom>
              <a:avLst/>
              <a:gdLst/>
              <a:ahLst/>
              <a:cxnLst/>
              <a:rect r="r" b="b" t="t" l="l"/>
              <a:pathLst>
                <a:path h="8128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05B4A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8900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9715500" y="7705725"/>
            <a:ext cx="6667500" cy="33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2"/>
              </a:lnSpc>
            </a:pPr>
            <a:r>
              <a:rPr lang="en-US" sz="1950" b="true">
                <a:solidFill>
                  <a:srgbClr val="E05B4A"/>
                </a:solidFill>
                <a:latin typeface="Inter Bold"/>
                <a:ea typeface="Inter Bold"/>
                <a:cs typeface="Inter Bold"/>
                <a:sym typeface="Inter Bold"/>
              </a:rPr>
              <a:t>Productos vencidos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43000" y="9696450"/>
            <a:ext cx="381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>
                <a:solidFill>
                  <a:srgbClr val="5B6474"/>
                </a:solidFill>
                <a:latin typeface="Inter"/>
                <a:ea typeface="Inter"/>
                <a:cs typeface="Inter"/>
                <a:sym typeface="Inter"/>
              </a:rPr>
              <a:t>SGI · Distribuidora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335000" y="9696450"/>
            <a:ext cx="381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spc="202">
                <a:solidFill>
                  <a:srgbClr val="5B6474"/>
                </a:solidFill>
                <a:latin typeface="Inter"/>
                <a:ea typeface="Inter"/>
                <a:cs typeface="Inter"/>
                <a:sym typeface="Inter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3000" y="1095375"/>
            <a:ext cx="57150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0" b="true">
                <a:solidFill>
                  <a:srgbClr val="2F6BFF"/>
                </a:solidFill>
                <a:latin typeface="Inter Bold"/>
                <a:ea typeface="Inter Bold"/>
                <a:cs typeface="Inter Bold"/>
                <a:sym typeface="Inter Bold"/>
              </a:rPr>
              <a:t>02 · Diagnóstico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3000" y="1571625"/>
            <a:ext cx="133350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0F2C5C"/>
                </a:solidFill>
                <a:latin typeface="DM Sans Bold"/>
                <a:ea typeface="DM Sans Bold"/>
                <a:cs typeface="DM Sans Bold"/>
                <a:sym typeface="DM Sans Bold"/>
              </a:rPr>
              <a:t>Cuello de botella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3000" y="2428875"/>
            <a:ext cx="1238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5B6474"/>
                </a:solidFill>
                <a:latin typeface="Inter"/>
                <a:ea typeface="Inter"/>
                <a:cs typeface="Inter"/>
                <a:sym typeface="Inter"/>
              </a:rPr>
              <a:t>La cadena de fallas que se traduce en pérdidas económicas.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190750" y="5334000"/>
            <a:ext cx="2476500" cy="1524000"/>
            <a:chOff x="0" y="0"/>
            <a:chExt cx="3302000" cy="203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6B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02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90750" y="5524500"/>
            <a:ext cx="2476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202">
                <a:solidFill>
                  <a:srgbClr val="2F6B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5895975"/>
            <a:ext cx="2095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2F6BFF"/>
                </a:solidFill>
                <a:latin typeface="DM Sans Bold"/>
                <a:ea typeface="DM Sans Bold"/>
                <a:cs typeface="DM Sans Bold"/>
                <a:sym typeface="DM Sans Bold"/>
              </a:rPr>
              <a:t>Entradas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705350" y="6019800"/>
            <a:ext cx="304800" cy="152400"/>
            <a:chOff x="0" y="0"/>
            <a:chExt cx="406400" cy="20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40640"/>
              <a:ext cx="406400" cy="121920"/>
            </a:xfrm>
            <a:custGeom>
              <a:avLst/>
              <a:gdLst/>
              <a:ahLst/>
              <a:cxnLst/>
              <a:rect r="r" b="b" t="t" l="l"/>
              <a:pathLst>
                <a:path h="121920" w="406400">
                  <a:moveTo>
                    <a:pt x="0" y="40640"/>
                  </a:moveTo>
                  <a:lnTo>
                    <a:pt x="284480" y="40640"/>
                  </a:lnTo>
                  <a:lnTo>
                    <a:pt x="284480" y="0"/>
                  </a:lnTo>
                  <a:lnTo>
                    <a:pt x="406400" y="60960"/>
                  </a:lnTo>
                  <a:lnTo>
                    <a:pt x="284480" y="121920"/>
                  </a:lnTo>
                  <a:lnTo>
                    <a:pt x="2844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C9D0D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048250" y="5334000"/>
            <a:ext cx="2476500" cy="1524000"/>
            <a:chOff x="0" y="0"/>
            <a:chExt cx="3302000" cy="2032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0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F2C5C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302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048250" y="5524500"/>
            <a:ext cx="2476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202">
                <a:solidFill>
                  <a:srgbClr val="0F2C5C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38750" y="5895975"/>
            <a:ext cx="20955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0F2C5C"/>
                </a:solidFill>
                <a:latin typeface="DM Sans Bold"/>
                <a:ea typeface="DM Sans Bold"/>
                <a:cs typeface="DM Sans Bold"/>
                <a:sym typeface="DM Sans Bold"/>
              </a:rPr>
              <a:t>Inventario sin control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562850" y="6019800"/>
            <a:ext cx="304800" cy="152400"/>
            <a:chOff x="0" y="0"/>
            <a:chExt cx="406400" cy="203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40640"/>
              <a:ext cx="406400" cy="121920"/>
            </a:xfrm>
            <a:custGeom>
              <a:avLst/>
              <a:gdLst/>
              <a:ahLst/>
              <a:cxnLst/>
              <a:rect r="r" b="b" t="t" l="l"/>
              <a:pathLst>
                <a:path h="121920" w="406400">
                  <a:moveTo>
                    <a:pt x="0" y="40640"/>
                  </a:moveTo>
                  <a:lnTo>
                    <a:pt x="284480" y="40640"/>
                  </a:lnTo>
                  <a:lnTo>
                    <a:pt x="284480" y="0"/>
                  </a:lnTo>
                  <a:lnTo>
                    <a:pt x="406400" y="60960"/>
                  </a:lnTo>
                  <a:lnTo>
                    <a:pt x="284480" y="121920"/>
                  </a:lnTo>
                  <a:lnTo>
                    <a:pt x="2844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C9D0D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7905750" y="5334000"/>
            <a:ext cx="2476500" cy="1524000"/>
            <a:chOff x="0" y="0"/>
            <a:chExt cx="3302000" cy="2032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30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F2C5C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302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905750" y="5524500"/>
            <a:ext cx="2476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202">
                <a:solidFill>
                  <a:srgbClr val="0F2C5C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96250" y="5895975"/>
            <a:ext cx="20955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0F2C5C"/>
                </a:solidFill>
                <a:latin typeface="DM Sans Bold"/>
                <a:ea typeface="DM Sans Bold"/>
                <a:cs typeface="DM Sans Bold"/>
                <a:sym typeface="DM Sans Bold"/>
              </a:rPr>
              <a:t>No se aplica FIFO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420350" y="6019800"/>
            <a:ext cx="304800" cy="152400"/>
            <a:chOff x="0" y="0"/>
            <a:chExt cx="406400" cy="203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40640"/>
              <a:ext cx="406400" cy="121920"/>
            </a:xfrm>
            <a:custGeom>
              <a:avLst/>
              <a:gdLst/>
              <a:ahLst/>
              <a:cxnLst/>
              <a:rect r="r" b="b" t="t" l="l"/>
              <a:pathLst>
                <a:path h="121920" w="406400">
                  <a:moveTo>
                    <a:pt x="0" y="40640"/>
                  </a:moveTo>
                  <a:lnTo>
                    <a:pt x="284480" y="40640"/>
                  </a:lnTo>
                  <a:lnTo>
                    <a:pt x="284480" y="0"/>
                  </a:lnTo>
                  <a:lnTo>
                    <a:pt x="406400" y="60960"/>
                  </a:lnTo>
                  <a:lnTo>
                    <a:pt x="284480" y="121920"/>
                  </a:lnTo>
                  <a:lnTo>
                    <a:pt x="2844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C9D0D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763250" y="5334000"/>
            <a:ext cx="2476500" cy="1524000"/>
            <a:chOff x="0" y="0"/>
            <a:chExt cx="3302000" cy="2032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0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05B4A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302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763250" y="5524500"/>
            <a:ext cx="2476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202">
                <a:solidFill>
                  <a:srgbClr val="E05B4A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953750" y="5895975"/>
            <a:ext cx="20955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E05B4A"/>
                </a:solidFill>
                <a:latin typeface="DM Sans Bold"/>
                <a:ea typeface="DM Sans Bold"/>
                <a:cs typeface="DM Sans Bold"/>
                <a:sym typeface="DM Sans Bold"/>
              </a:rPr>
              <a:t>Productos vencidos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277850" y="6019800"/>
            <a:ext cx="304800" cy="152400"/>
            <a:chOff x="0" y="0"/>
            <a:chExt cx="406400" cy="203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40640"/>
              <a:ext cx="406400" cy="121920"/>
            </a:xfrm>
            <a:custGeom>
              <a:avLst/>
              <a:gdLst/>
              <a:ahLst/>
              <a:cxnLst/>
              <a:rect r="r" b="b" t="t" l="l"/>
              <a:pathLst>
                <a:path h="121920" w="406400">
                  <a:moveTo>
                    <a:pt x="0" y="40640"/>
                  </a:moveTo>
                  <a:lnTo>
                    <a:pt x="284480" y="40640"/>
                  </a:lnTo>
                  <a:lnTo>
                    <a:pt x="284480" y="0"/>
                  </a:lnTo>
                  <a:lnTo>
                    <a:pt x="406400" y="60960"/>
                  </a:lnTo>
                  <a:lnTo>
                    <a:pt x="284480" y="121920"/>
                  </a:lnTo>
                  <a:lnTo>
                    <a:pt x="2844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C9D0D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3620750" y="5334000"/>
            <a:ext cx="2476500" cy="1524000"/>
            <a:chOff x="0" y="0"/>
            <a:chExt cx="3302000" cy="2032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30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05B4A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302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3620750" y="5524500"/>
            <a:ext cx="2476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202">
                <a:solidFill>
                  <a:srgbClr val="E05B4A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811250" y="5895975"/>
            <a:ext cx="20955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E05B4A"/>
                </a:solidFill>
                <a:latin typeface="DM Sans Bold"/>
                <a:ea typeface="DM Sans Bold"/>
                <a:cs typeface="DM Sans Bold"/>
                <a:sym typeface="DM Sans Bold"/>
              </a:rPr>
              <a:t>Pérdidas económicas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239000" y="7620000"/>
            <a:ext cx="4572000" cy="571500"/>
            <a:chOff x="0" y="0"/>
            <a:chExt cx="6096000" cy="76200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762000" cy="762000"/>
              <a:chOff x="0" y="0"/>
              <a:chExt cx="762000" cy="7620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105481" y="140052"/>
                <a:ext cx="551038" cy="545748"/>
              </a:xfrm>
              <a:custGeom>
                <a:avLst/>
                <a:gdLst/>
                <a:ahLst/>
                <a:cxnLst/>
                <a:rect r="r" b="b" t="t" l="l"/>
                <a:pathLst>
                  <a:path h="545748" w="551038">
                    <a:moveTo>
                      <a:pt x="354748" y="47703"/>
                    </a:moveTo>
                    <a:lnTo>
                      <a:pt x="539190" y="396093"/>
                    </a:lnTo>
                    <a:cubicBezTo>
                      <a:pt x="555920" y="427694"/>
                      <a:pt x="554872" y="465750"/>
                      <a:pt x="536429" y="496383"/>
                    </a:cubicBezTo>
                    <a:cubicBezTo>
                      <a:pt x="517985" y="527016"/>
                      <a:pt x="484842" y="545748"/>
                      <a:pt x="449086" y="545748"/>
                    </a:cubicBezTo>
                    <a:lnTo>
                      <a:pt x="101952" y="545748"/>
                    </a:lnTo>
                    <a:cubicBezTo>
                      <a:pt x="66196" y="545748"/>
                      <a:pt x="33053" y="527016"/>
                      <a:pt x="14609" y="496383"/>
                    </a:cubicBezTo>
                    <a:cubicBezTo>
                      <a:pt x="-3834" y="465750"/>
                      <a:pt x="-4882" y="427694"/>
                      <a:pt x="11848" y="396093"/>
                    </a:cubicBezTo>
                    <a:lnTo>
                      <a:pt x="196290" y="47703"/>
                    </a:lnTo>
                    <a:cubicBezTo>
                      <a:pt x="211827" y="18356"/>
                      <a:pt x="242313" y="0"/>
                      <a:pt x="275519" y="0"/>
                    </a:cubicBezTo>
                    <a:cubicBezTo>
                      <a:pt x="308725" y="0"/>
                      <a:pt x="339211" y="18356"/>
                      <a:pt x="354748" y="47703"/>
                    </a:cubicBezTo>
                    <a:close/>
                  </a:path>
                </a:pathLst>
              </a:custGeom>
              <a:solidFill>
                <a:srgbClr val="E05B4A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41" id="41"/>
            <p:cNvSpPr txBox="true"/>
            <p:nvPr/>
          </p:nvSpPr>
          <p:spPr>
            <a:xfrm rot="0">
              <a:off x="0" y="85725"/>
              <a:ext cx="7620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!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016000" y="152400"/>
              <a:ext cx="5080000" cy="433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1950" b="true">
                  <a:solidFill>
                    <a:srgbClr val="0F2C5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Riesgo operativo elevado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143000" y="9696450"/>
            <a:ext cx="381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>
                <a:solidFill>
                  <a:srgbClr val="5B6474"/>
                </a:solidFill>
                <a:latin typeface="Inter"/>
                <a:ea typeface="Inter"/>
                <a:cs typeface="Inter"/>
                <a:sym typeface="Inter"/>
              </a:rPr>
              <a:t>SGI · Distribuidora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335000" y="9696450"/>
            <a:ext cx="381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spc="202">
                <a:solidFill>
                  <a:srgbClr val="5B6474"/>
                </a:solidFill>
                <a:latin typeface="Inter"/>
                <a:ea typeface="Inter"/>
                <a:cs typeface="Inter"/>
                <a:sym typeface="Inter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14300" cy="10287000"/>
            <a:chOff x="0" y="0"/>
            <a:chExt cx="152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2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1095375"/>
            <a:ext cx="57150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0" b="true">
                <a:solidFill>
                  <a:srgbClr val="2F6BFF"/>
                </a:solidFill>
                <a:latin typeface="Inter Bold"/>
                <a:ea typeface="Inter Bold"/>
                <a:cs typeface="Inter Bold"/>
                <a:sym typeface="Inter Bold"/>
              </a:rPr>
              <a:t>03 · Solución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571625"/>
            <a:ext cx="133350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0F2C5C"/>
                </a:solidFill>
                <a:latin typeface="DM Sans Bold"/>
                <a:ea typeface="DM Sans Bold"/>
                <a:cs typeface="DM Sans Bold"/>
                <a:sym typeface="DM Sans Bold"/>
              </a:rPr>
              <a:t>Sistema propuesto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2428875"/>
            <a:ext cx="1238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5B6474"/>
                </a:solidFill>
                <a:latin typeface="Inter"/>
                <a:ea typeface="Inter"/>
                <a:cs typeface="Inter"/>
                <a:sym typeface="Inter"/>
              </a:rPr>
              <a:t>Cinco funcionalidades clave para automatizar y controlar el inventario.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43000" y="4381500"/>
            <a:ext cx="3017520" cy="3048000"/>
            <a:chOff x="0" y="0"/>
            <a:chExt cx="4023360" cy="4064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4023360" cy="4064000"/>
              <a:chOff x="0" y="0"/>
              <a:chExt cx="4023360" cy="4064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2336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4023360">
                    <a:moveTo>
                      <a:pt x="0" y="0"/>
                    </a:moveTo>
                    <a:lnTo>
                      <a:pt x="4023360" y="0"/>
                    </a:lnTo>
                    <a:lnTo>
                      <a:pt x="402336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E8EE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02336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406400" y="406400"/>
              <a:ext cx="711200" cy="711200"/>
              <a:chOff x="0" y="0"/>
              <a:chExt cx="711200" cy="7112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112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711200">
                    <a:moveTo>
                      <a:pt x="355600" y="0"/>
                    </a:moveTo>
                    <a:cubicBezTo>
                      <a:pt x="551992" y="0"/>
                      <a:pt x="711200" y="159208"/>
                      <a:pt x="711200" y="355600"/>
                    </a:cubicBezTo>
                    <a:cubicBezTo>
                      <a:pt x="711200" y="551992"/>
                      <a:pt x="551992" y="711200"/>
                      <a:pt x="355600" y="711200"/>
                    </a:cubicBezTo>
                    <a:cubicBezTo>
                      <a:pt x="159208" y="711200"/>
                      <a:pt x="0" y="551992"/>
                      <a:pt x="0" y="355600"/>
                    </a:cubicBezTo>
                    <a:cubicBezTo>
                      <a:pt x="0" y="159208"/>
                      <a:pt x="159208" y="0"/>
                      <a:pt x="355600" y="0"/>
                    </a:cubicBezTo>
                    <a:close/>
                  </a:path>
                </a:pathLst>
              </a:custGeom>
              <a:solidFill>
                <a:srgbClr val="2F6B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406400" y="555625"/>
              <a:ext cx="711200" cy="419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06400" y="1485900"/>
              <a:ext cx="3210560" cy="48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 b="true">
                  <a:solidFill>
                    <a:srgbClr val="0F2C5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Registrar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06400" y="2193925"/>
              <a:ext cx="321056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5B6474"/>
                  </a:solidFill>
                  <a:latin typeface="Inter"/>
                  <a:ea typeface="Inter"/>
                  <a:cs typeface="Inter"/>
                  <a:sym typeface="Inter"/>
                </a:rPr>
                <a:t>Entradas y salidas de productos.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198620" y="7715250"/>
            <a:ext cx="228600" cy="190500"/>
            <a:chOff x="0" y="0"/>
            <a:chExt cx="304800" cy="25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50800"/>
              <a:ext cx="304800" cy="152400"/>
            </a:xfrm>
            <a:custGeom>
              <a:avLst/>
              <a:gdLst/>
              <a:ahLst/>
              <a:cxnLst/>
              <a:rect r="r" b="b" t="t" l="l"/>
              <a:pathLst>
                <a:path h="152400" w="304800">
                  <a:moveTo>
                    <a:pt x="0" y="50800"/>
                  </a:moveTo>
                  <a:lnTo>
                    <a:pt x="182880" y="50800"/>
                  </a:lnTo>
                  <a:lnTo>
                    <a:pt x="182880" y="0"/>
                  </a:lnTo>
                  <a:lnTo>
                    <a:pt x="304800" y="76200"/>
                  </a:lnTo>
                  <a:lnTo>
                    <a:pt x="182880" y="152400"/>
                  </a:lnTo>
                  <a:lnTo>
                    <a:pt x="18288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F6B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389120" y="4381500"/>
            <a:ext cx="3017520" cy="3048000"/>
            <a:chOff x="0" y="0"/>
            <a:chExt cx="4023360" cy="4064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4023360" cy="4064000"/>
              <a:chOff x="0" y="0"/>
              <a:chExt cx="4023360" cy="4064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02336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4023360">
                    <a:moveTo>
                      <a:pt x="0" y="0"/>
                    </a:moveTo>
                    <a:lnTo>
                      <a:pt x="4023360" y="0"/>
                    </a:lnTo>
                    <a:lnTo>
                      <a:pt x="402336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E8EE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402336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406400" y="406400"/>
              <a:ext cx="711200" cy="711200"/>
              <a:chOff x="0" y="0"/>
              <a:chExt cx="711200" cy="7112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7112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711200">
                    <a:moveTo>
                      <a:pt x="355600" y="0"/>
                    </a:moveTo>
                    <a:cubicBezTo>
                      <a:pt x="551992" y="0"/>
                      <a:pt x="711200" y="159208"/>
                      <a:pt x="711200" y="355600"/>
                    </a:cubicBezTo>
                    <a:cubicBezTo>
                      <a:pt x="711200" y="551992"/>
                      <a:pt x="551992" y="711200"/>
                      <a:pt x="355600" y="711200"/>
                    </a:cubicBezTo>
                    <a:cubicBezTo>
                      <a:pt x="159208" y="711200"/>
                      <a:pt x="0" y="551992"/>
                      <a:pt x="0" y="355600"/>
                    </a:cubicBezTo>
                    <a:cubicBezTo>
                      <a:pt x="0" y="159208"/>
                      <a:pt x="159208" y="0"/>
                      <a:pt x="355600" y="0"/>
                    </a:cubicBezTo>
                    <a:close/>
                  </a:path>
                </a:pathLst>
              </a:custGeom>
              <a:solidFill>
                <a:srgbClr val="2F6B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406400" y="555625"/>
              <a:ext cx="711200" cy="419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06400" y="1485900"/>
              <a:ext cx="3210560" cy="48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 b="true">
                  <a:solidFill>
                    <a:srgbClr val="0F2C5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Controlar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06400" y="2193925"/>
              <a:ext cx="321056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5B6474"/>
                  </a:solidFill>
                  <a:latin typeface="Inter"/>
                  <a:ea typeface="Inter"/>
                  <a:cs typeface="Inter"/>
                  <a:sym typeface="Inter"/>
                </a:rPr>
                <a:t>Stock en tiempo real.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444740" y="7715250"/>
            <a:ext cx="228600" cy="190500"/>
            <a:chOff x="0" y="0"/>
            <a:chExt cx="304800" cy="254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50800"/>
              <a:ext cx="304800" cy="152400"/>
            </a:xfrm>
            <a:custGeom>
              <a:avLst/>
              <a:gdLst/>
              <a:ahLst/>
              <a:cxnLst/>
              <a:rect r="r" b="b" t="t" l="l"/>
              <a:pathLst>
                <a:path h="152400" w="304800">
                  <a:moveTo>
                    <a:pt x="0" y="50800"/>
                  </a:moveTo>
                  <a:lnTo>
                    <a:pt x="182880" y="50800"/>
                  </a:lnTo>
                  <a:lnTo>
                    <a:pt x="182880" y="0"/>
                  </a:lnTo>
                  <a:lnTo>
                    <a:pt x="304800" y="76200"/>
                  </a:lnTo>
                  <a:lnTo>
                    <a:pt x="182880" y="152400"/>
                  </a:lnTo>
                  <a:lnTo>
                    <a:pt x="18288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F6B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635240" y="4381500"/>
            <a:ext cx="3017520" cy="3048000"/>
            <a:chOff x="0" y="0"/>
            <a:chExt cx="4023360" cy="4064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4023360" cy="4064000"/>
              <a:chOff x="0" y="0"/>
              <a:chExt cx="4023360" cy="4064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2336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4023360">
                    <a:moveTo>
                      <a:pt x="0" y="0"/>
                    </a:moveTo>
                    <a:lnTo>
                      <a:pt x="4023360" y="0"/>
                    </a:lnTo>
                    <a:lnTo>
                      <a:pt x="402336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E8EE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402336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400" y="406400"/>
              <a:ext cx="711200" cy="711200"/>
              <a:chOff x="0" y="0"/>
              <a:chExt cx="711200" cy="7112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7112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711200">
                    <a:moveTo>
                      <a:pt x="355600" y="0"/>
                    </a:moveTo>
                    <a:cubicBezTo>
                      <a:pt x="551992" y="0"/>
                      <a:pt x="711200" y="159208"/>
                      <a:pt x="711200" y="355600"/>
                    </a:cubicBezTo>
                    <a:cubicBezTo>
                      <a:pt x="711200" y="551992"/>
                      <a:pt x="551992" y="711200"/>
                      <a:pt x="355600" y="711200"/>
                    </a:cubicBezTo>
                    <a:cubicBezTo>
                      <a:pt x="159208" y="711200"/>
                      <a:pt x="0" y="551992"/>
                      <a:pt x="0" y="355600"/>
                    </a:cubicBezTo>
                    <a:cubicBezTo>
                      <a:pt x="0" y="159208"/>
                      <a:pt x="159208" y="0"/>
                      <a:pt x="355600" y="0"/>
                    </a:cubicBezTo>
                    <a:close/>
                  </a:path>
                </a:pathLst>
              </a:custGeom>
              <a:solidFill>
                <a:srgbClr val="2F6B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36" id="36"/>
            <p:cNvSpPr txBox="true"/>
            <p:nvPr/>
          </p:nvSpPr>
          <p:spPr>
            <a:xfrm rot="0">
              <a:off x="406400" y="555625"/>
              <a:ext cx="711200" cy="419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406400" y="1485900"/>
              <a:ext cx="3210560" cy="48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 b="true">
                  <a:solidFill>
                    <a:srgbClr val="0F2C5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Aplicar FIFO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406400" y="2193925"/>
              <a:ext cx="321056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5B6474"/>
                  </a:solidFill>
                  <a:latin typeface="Inter"/>
                  <a:ea typeface="Inter"/>
                  <a:cs typeface="Inter"/>
                  <a:sym typeface="Inter"/>
                </a:rPr>
                <a:t>Rotación automática por fecha.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690860" y="7715250"/>
            <a:ext cx="228600" cy="190500"/>
            <a:chOff x="0" y="0"/>
            <a:chExt cx="304800" cy="25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50800"/>
              <a:ext cx="304800" cy="152400"/>
            </a:xfrm>
            <a:custGeom>
              <a:avLst/>
              <a:gdLst/>
              <a:ahLst/>
              <a:cxnLst/>
              <a:rect r="r" b="b" t="t" l="l"/>
              <a:pathLst>
                <a:path h="152400" w="304800">
                  <a:moveTo>
                    <a:pt x="0" y="50800"/>
                  </a:moveTo>
                  <a:lnTo>
                    <a:pt x="182880" y="50800"/>
                  </a:lnTo>
                  <a:lnTo>
                    <a:pt x="182880" y="0"/>
                  </a:lnTo>
                  <a:lnTo>
                    <a:pt x="304800" y="76200"/>
                  </a:lnTo>
                  <a:lnTo>
                    <a:pt x="182880" y="152400"/>
                  </a:lnTo>
                  <a:lnTo>
                    <a:pt x="18288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F6B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0881360" y="4381500"/>
            <a:ext cx="3017520" cy="3048000"/>
            <a:chOff x="0" y="0"/>
            <a:chExt cx="4023360" cy="4064000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4023360" cy="4064000"/>
              <a:chOff x="0" y="0"/>
              <a:chExt cx="4023360" cy="40640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02336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4023360">
                    <a:moveTo>
                      <a:pt x="0" y="0"/>
                    </a:moveTo>
                    <a:lnTo>
                      <a:pt x="4023360" y="0"/>
                    </a:lnTo>
                    <a:lnTo>
                      <a:pt x="402336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E8EE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402336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406400" y="406400"/>
              <a:ext cx="711200" cy="711200"/>
              <a:chOff x="0" y="0"/>
              <a:chExt cx="7112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7112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711200">
                    <a:moveTo>
                      <a:pt x="355600" y="0"/>
                    </a:moveTo>
                    <a:cubicBezTo>
                      <a:pt x="551992" y="0"/>
                      <a:pt x="711200" y="159208"/>
                      <a:pt x="711200" y="355600"/>
                    </a:cubicBezTo>
                    <a:cubicBezTo>
                      <a:pt x="711200" y="551992"/>
                      <a:pt x="551992" y="711200"/>
                      <a:pt x="355600" y="711200"/>
                    </a:cubicBezTo>
                    <a:cubicBezTo>
                      <a:pt x="159208" y="711200"/>
                      <a:pt x="0" y="551992"/>
                      <a:pt x="0" y="355600"/>
                    </a:cubicBezTo>
                    <a:cubicBezTo>
                      <a:pt x="0" y="159208"/>
                      <a:pt x="159208" y="0"/>
                      <a:pt x="355600" y="0"/>
                    </a:cubicBezTo>
                    <a:close/>
                  </a:path>
                </a:pathLst>
              </a:custGeom>
              <a:solidFill>
                <a:srgbClr val="2F6B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47" id="47"/>
            <p:cNvSpPr txBox="true"/>
            <p:nvPr/>
          </p:nvSpPr>
          <p:spPr>
            <a:xfrm rot="0">
              <a:off x="406400" y="555625"/>
              <a:ext cx="711200" cy="419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406400" y="1485900"/>
              <a:ext cx="3210560" cy="48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 b="true">
                  <a:solidFill>
                    <a:srgbClr val="0F2C5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Alertar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406400" y="2193925"/>
              <a:ext cx="321056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5B6474"/>
                  </a:solidFill>
                  <a:latin typeface="Inter"/>
                  <a:ea typeface="Inter"/>
                  <a:cs typeface="Inter"/>
                  <a:sym typeface="Inter"/>
                </a:rPr>
                <a:t>Productos próximos a vencer.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936980" y="7715250"/>
            <a:ext cx="228600" cy="190500"/>
            <a:chOff x="0" y="0"/>
            <a:chExt cx="304800" cy="254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50800"/>
              <a:ext cx="304800" cy="152400"/>
            </a:xfrm>
            <a:custGeom>
              <a:avLst/>
              <a:gdLst/>
              <a:ahLst/>
              <a:cxnLst/>
              <a:rect r="r" b="b" t="t" l="l"/>
              <a:pathLst>
                <a:path h="152400" w="304800">
                  <a:moveTo>
                    <a:pt x="0" y="50800"/>
                  </a:moveTo>
                  <a:lnTo>
                    <a:pt x="182880" y="50800"/>
                  </a:lnTo>
                  <a:lnTo>
                    <a:pt x="182880" y="0"/>
                  </a:lnTo>
                  <a:lnTo>
                    <a:pt x="304800" y="76200"/>
                  </a:lnTo>
                  <a:lnTo>
                    <a:pt x="182880" y="152400"/>
                  </a:lnTo>
                  <a:lnTo>
                    <a:pt x="18288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F6B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4127480" y="4381500"/>
            <a:ext cx="3017520" cy="3048000"/>
            <a:chOff x="0" y="0"/>
            <a:chExt cx="4023360" cy="4064000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0" y="0"/>
              <a:ext cx="4023360" cy="4064000"/>
              <a:chOff x="0" y="0"/>
              <a:chExt cx="4023360" cy="40640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402336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4023360">
                    <a:moveTo>
                      <a:pt x="0" y="0"/>
                    </a:moveTo>
                    <a:lnTo>
                      <a:pt x="4023360" y="0"/>
                    </a:lnTo>
                    <a:lnTo>
                      <a:pt x="402336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E8EE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38100"/>
                <a:ext cx="402336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406400" y="406400"/>
              <a:ext cx="711200" cy="711200"/>
              <a:chOff x="0" y="0"/>
              <a:chExt cx="711200" cy="7112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7112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711200">
                    <a:moveTo>
                      <a:pt x="355600" y="0"/>
                    </a:moveTo>
                    <a:cubicBezTo>
                      <a:pt x="551992" y="0"/>
                      <a:pt x="711200" y="159208"/>
                      <a:pt x="711200" y="355600"/>
                    </a:cubicBezTo>
                    <a:cubicBezTo>
                      <a:pt x="711200" y="551992"/>
                      <a:pt x="551992" y="711200"/>
                      <a:pt x="355600" y="711200"/>
                    </a:cubicBezTo>
                    <a:cubicBezTo>
                      <a:pt x="159208" y="711200"/>
                      <a:pt x="0" y="551992"/>
                      <a:pt x="0" y="355600"/>
                    </a:cubicBezTo>
                    <a:cubicBezTo>
                      <a:pt x="0" y="159208"/>
                      <a:pt x="159208" y="0"/>
                      <a:pt x="355600" y="0"/>
                    </a:cubicBezTo>
                    <a:close/>
                  </a:path>
                </a:pathLst>
              </a:custGeom>
              <a:solidFill>
                <a:srgbClr val="2F6B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58" id="58"/>
            <p:cNvSpPr txBox="true"/>
            <p:nvPr/>
          </p:nvSpPr>
          <p:spPr>
            <a:xfrm rot="0">
              <a:off x="406400" y="555625"/>
              <a:ext cx="711200" cy="419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406400" y="1485900"/>
              <a:ext cx="3210560" cy="48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 b="true">
                  <a:solidFill>
                    <a:srgbClr val="0F2C5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Reportes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406400" y="2193925"/>
              <a:ext cx="321056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5B6474"/>
                  </a:solidFill>
                  <a:latin typeface="Inter"/>
                  <a:ea typeface="Inter"/>
                  <a:cs typeface="Inter"/>
                  <a:sym typeface="Inter"/>
                </a:rPr>
                <a:t>Análisis del inventario.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143000" y="7686675"/>
            <a:ext cx="16002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1800" spc="179">
                <a:solidFill>
                  <a:srgbClr val="2F6BFF"/>
                </a:solidFill>
                <a:latin typeface="Inter Bold"/>
                <a:ea typeface="Inter Bold"/>
                <a:cs typeface="Inter Bold"/>
                <a:sym typeface="Inter Bold"/>
              </a:rPr>
              <a:t>Registrar → Controlar → Aplicar FIFO → Alertar → Reportes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43000" y="9696450"/>
            <a:ext cx="381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>
                <a:solidFill>
                  <a:srgbClr val="5B6474"/>
                </a:solidFill>
                <a:latin typeface="Inter"/>
                <a:ea typeface="Inter"/>
                <a:cs typeface="Inter"/>
                <a:sym typeface="Inter"/>
              </a:rPr>
              <a:t>SGI · Distribuidora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335000" y="9696450"/>
            <a:ext cx="381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spc="202">
                <a:solidFill>
                  <a:srgbClr val="5B6474"/>
                </a:solidFill>
                <a:latin typeface="Inter"/>
                <a:ea typeface="Inter"/>
                <a:cs typeface="Inter"/>
                <a:sym typeface="Inter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F2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3000" y="1095375"/>
            <a:ext cx="57150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0" b="true">
                <a:solidFill>
                  <a:srgbClr val="8FB3FF"/>
                </a:solidFill>
                <a:latin typeface="Inter Bold"/>
                <a:ea typeface="Inter Bold"/>
                <a:cs typeface="Inter Bold"/>
                <a:sym typeface="Inter Bold"/>
              </a:rPr>
              <a:t>04 · Impacto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3000" y="1571625"/>
            <a:ext cx="133350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Beneficios del sistema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43000" y="3238500"/>
            <a:ext cx="3048000" cy="2476500"/>
            <a:chOff x="0" y="0"/>
            <a:chExt cx="4064000" cy="3302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064000" cy="3302000"/>
              <a:chOff x="0" y="0"/>
              <a:chExt cx="4064000" cy="3302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06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6386F"/>
              </a:solidFill>
              <a:ln w="9525" cap="sq">
                <a:solidFill>
                  <a:srgbClr val="2A4A85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06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381000" y="381000"/>
              <a:ext cx="660400" cy="660400"/>
              <a:chOff x="0" y="0"/>
              <a:chExt cx="660400" cy="6604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604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660400">
                    <a:moveTo>
                      <a:pt x="330200" y="0"/>
                    </a:moveTo>
                    <a:cubicBezTo>
                      <a:pt x="512564" y="0"/>
                      <a:pt x="660400" y="147836"/>
                      <a:pt x="660400" y="330200"/>
                    </a:cubicBezTo>
                    <a:cubicBezTo>
                      <a:pt x="660400" y="512564"/>
                      <a:pt x="512564" y="660400"/>
                      <a:pt x="330200" y="660400"/>
                    </a:cubicBezTo>
                    <a:cubicBezTo>
                      <a:pt x="147836" y="660400"/>
                      <a:pt x="0" y="512564"/>
                      <a:pt x="0" y="330200"/>
                    </a:cubicBezTo>
                    <a:cubicBezTo>
                      <a:pt x="0" y="147836"/>
                      <a:pt x="147836" y="0"/>
                      <a:pt x="330200" y="0"/>
                    </a:cubicBezTo>
                    <a:close/>
                  </a:path>
                </a:pathLst>
              </a:custGeom>
              <a:solidFill>
                <a:srgbClr val="2FA579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381000" y="460375"/>
              <a:ext cx="6604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✓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81000" y="1368425"/>
              <a:ext cx="3302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Menos productos vencidos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381500" y="3238500"/>
            <a:ext cx="3048000" cy="2476500"/>
            <a:chOff x="0" y="0"/>
            <a:chExt cx="4064000" cy="3302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064000" cy="3302000"/>
              <a:chOff x="0" y="0"/>
              <a:chExt cx="4064000" cy="3302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6386F"/>
              </a:solidFill>
              <a:ln w="9525" cap="sq">
                <a:solidFill>
                  <a:srgbClr val="2A4A85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406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381000" y="381000"/>
              <a:ext cx="660400" cy="660400"/>
              <a:chOff x="0" y="0"/>
              <a:chExt cx="660400" cy="660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604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660400">
                    <a:moveTo>
                      <a:pt x="330200" y="0"/>
                    </a:moveTo>
                    <a:cubicBezTo>
                      <a:pt x="512564" y="0"/>
                      <a:pt x="660400" y="147836"/>
                      <a:pt x="660400" y="330200"/>
                    </a:cubicBezTo>
                    <a:cubicBezTo>
                      <a:pt x="660400" y="512564"/>
                      <a:pt x="512564" y="660400"/>
                      <a:pt x="330200" y="660400"/>
                    </a:cubicBezTo>
                    <a:cubicBezTo>
                      <a:pt x="147836" y="660400"/>
                      <a:pt x="0" y="512564"/>
                      <a:pt x="0" y="330200"/>
                    </a:cubicBezTo>
                    <a:cubicBezTo>
                      <a:pt x="0" y="147836"/>
                      <a:pt x="147836" y="0"/>
                      <a:pt x="330200" y="0"/>
                    </a:cubicBezTo>
                    <a:close/>
                  </a:path>
                </a:pathLst>
              </a:custGeom>
              <a:solidFill>
                <a:srgbClr val="2FA579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381000" y="460375"/>
              <a:ext cx="6604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✓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81000" y="1368425"/>
              <a:ext cx="3302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Mayor control del inventario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620000" y="3238500"/>
            <a:ext cx="3048000" cy="2476500"/>
            <a:chOff x="0" y="0"/>
            <a:chExt cx="4064000" cy="3302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064000" cy="3302000"/>
              <a:chOff x="0" y="0"/>
              <a:chExt cx="4064000" cy="3302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06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6386F"/>
              </a:solidFill>
              <a:ln w="9525" cap="sq">
                <a:solidFill>
                  <a:srgbClr val="2A4A85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406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81000" y="381000"/>
              <a:ext cx="660400" cy="660400"/>
              <a:chOff x="0" y="0"/>
              <a:chExt cx="660400" cy="6604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604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660400">
                    <a:moveTo>
                      <a:pt x="330200" y="0"/>
                    </a:moveTo>
                    <a:cubicBezTo>
                      <a:pt x="512564" y="0"/>
                      <a:pt x="660400" y="147836"/>
                      <a:pt x="660400" y="330200"/>
                    </a:cubicBezTo>
                    <a:cubicBezTo>
                      <a:pt x="660400" y="512564"/>
                      <a:pt x="512564" y="660400"/>
                      <a:pt x="330200" y="660400"/>
                    </a:cubicBezTo>
                    <a:cubicBezTo>
                      <a:pt x="147836" y="660400"/>
                      <a:pt x="0" y="512564"/>
                      <a:pt x="0" y="330200"/>
                    </a:cubicBezTo>
                    <a:cubicBezTo>
                      <a:pt x="0" y="147836"/>
                      <a:pt x="147836" y="0"/>
                      <a:pt x="330200" y="0"/>
                    </a:cubicBezTo>
                    <a:close/>
                  </a:path>
                </a:pathLst>
              </a:custGeom>
              <a:solidFill>
                <a:srgbClr val="2FA579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381000" y="460375"/>
              <a:ext cx="6604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✓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81000" y="1368425"/>
              <a:ext cx="3302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Mejor rotación del stock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858500" y="3238500"/>
            <a:ext cx="3048000" cy="2476500"/>
            <a:chOff x="0" y="0"/>
            <a:chExt cx="4064000" cy="33020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4064000" cy="3302000"/>
              <a:chOff x="0" y="0"/>
              <a:chExt cx="4064000" cy="3302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06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6386F"/>
              </a:solidFill>
              <a:ln w="9525" cap="sq">
                <a:solidFill>
                  <a:srgbClr val="2A4A85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406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381000" y="381000"/>
              <a:ext cx="660400" cy="660400"/>
              <a:chOff x="0" y="0"/>
              <a:chExt cx="660400" cy="6604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604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660400">
                    <a:moveTo>
                      <a:pt x="330200" y="0"/>
                    </a:moveTo>
                    <a:cubicBezTo>
                      <a:pt x="512564" y="0"/>
                      <a:pt x="660400" y="147836"/>
                      <a:pt x="660400" y="330200"/>
                    </a:cubicBezTo>
                    <a:cubicBezTo>
                      <a:pt x="660400" y="512564"/>
                      <a:pt x="512564" y="660400"/>
                      <a:pt x="330200" y="660400"/>
                    </a:cubicBezTo>
                    <a:cubicBezTo>
                      <a:pt x="147836" y="660400"/>
                      <a:pt x="0" y="512564"/>
                      <a:pt x="0" y="330200"/>
                    </a:cubicBezTo>
                    <a:cubicBezTo>
                      <a:pt x="0" y="147836"/>
                      <a:pt x="147836" y="0"/>
                      <a:pt x="330200" y="0"/>
                    </a:cubicBezTo>
                    <a:close/>
                  </a:path>
                </a:pathLst>
              </a:custGeom>
              <a:solidFill>
                <a:srgbClr val="2FA579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34" id="34"/>
            <p:cNvSpPr txBox="true"/>
            <p:nvPr/>
          </p:nvSpPr>
          <p:spPr>
            <a:xfrm rot="0">
              <a:off x="381000" y="460375"/>
              <a:ext cx="6604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✓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81000" y="1368425"/>
              <a:ext cx="3302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Reducción de pérdidas económicas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097000" y="3238500"/>
            <a:ext cx="3048000" cy="2476500"/>
            <a:chOff x="0" y="0"/>
            <a:chExt cx="4064000" cy="33020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4064000" cy="3302000"/>
              <a:chOff x="0" y="0"/>
              <a:chExt cx="4064000" cy="33020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6386F"/>
              </a:solidFill>
              <a:ln w="9525" cap="sq">
                <a:solidFill>
                  <a:srgbClr val="2A4A85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406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381000" y="381000"/>
              <a:ext cx="660400" cy="660400"/>
              <a:chOff x="0" y="0"/>
              <a:chExt cx="660400" cy="6604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6604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660400">
                    <a:moveTo>
                      <a:pt x="330200" y="0"/>
                    </a:moveTo>
                    <a:cubicBezTo>
                      <a:pt x="512564" y="0"/>
                      <a:pt x="660400" y="147836"/>
                      <a:pt x="660400" y="330200"/>
                    </a:cubicBezTo>
                    <a:cubicBezTo>
                      <a:pt x="660400" y="512564"/>
                      <a:pt x="512564" y="660400"/>
                      <a:pt x="330200" y="660400"/>
                    </a:cubicBezTo>
                    <a:cubicBezTo>
                      <a:pt x="147836" y="660400"/>
                      <a:pt x="0" y="512564"/>
                      <a:pt x="0" y="330200"/>
                    </a:cubicBezTo>
                    <a:cubicBezTo>
                      <a:pt x="0" y="147836"/>
                      <a:pt x="147836" y="0"/>
                      <a:pt x="330200" y="0"/>
                    </a:cubicBezTo>
                    <a:close/>
                  </a:path>
                </a:pathLst>
              </a:custGeom>
              <a:solidFill>
                <a:srgbClr val="2FA579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42" id="42"/>
            <p:cNvSpPr txBox="true"/>
            <p:nvPr/>
          </p:nvSpPr>
          <p:spPr>
            <a:xfrm rot="0">
              <a:off x="381000" y="460375"/>
              <a:ext cx="6604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✓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381000" y="1368425"/>
              <a:ext cx="3302000" cy="1202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Mejor toma de decisiones y eficiencia operativa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43000" y="6477000"/>
            <a:ext cx="57150" cy="1238250"/>
            <a:chOff x="0" y="0"/>
            <a:chExt cx="762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62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2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62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524000" y="6343650"/>
            <a:ext cx="15240000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 i="true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Un inventario bien gestionado permite reducir pérdidas, optimizar recursos y aumentar la rentabilidad de la empresa.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43000" y="9696450"/>
            <a:ext cx="381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02">
                <a:solidFill>
                  <a:srgbClr val="8FA2C9"/>
                </a:solidFill>
                <a:latin typeface="Inter"/>
                <a:ea typeface="Inter"/>
                <a:cs typeface="Inter"/>
                <a:sym typeface="Inter"/>
              </a:rPr>
              <a:t>SGI · Distribuidora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335000" y="9696450"/>
            <a:ext cx="381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spc="202">
                <a:solidFill>
                  <a:srgbClr val="8FA2C9"/>
                </a:solidFill>
                <a:latin typeface="Inter"/>
                <a:ea typeface="Inter"/>
                <a:cs typeface="Inter"/>
                <a:sym typeface="Inter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DAHQZSmfhFw</dc:identifier>
  <dcterms:modified xsi:type="dcterms:W3CDTF">2011-08-01T06:04:30Z</dcterms:modified>
  <cp:revision>1</cp:revision>
</cp:coreProperties>
</file>