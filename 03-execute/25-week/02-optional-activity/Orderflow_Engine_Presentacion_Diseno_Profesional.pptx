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502920"/>
            <a:ext cx="3566160" cy="5440680"/>
          </a:xfrm>
          <a:prstGeom prst="round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0" y="1005840"/>
            <a:ext cx="2651760" cy="164592"/>
          </a:xfrm>
          <a:prstGeom prst="round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03920" y="1353312"/>
            <a:ext cx="1920240" cy="164592"/>
          </a:xfrm>
          <a:prstGeom prst="round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0" y="1700784"/>
            <a:ext cx="2331720" cy="164592"/>
          </a:xfrm>
          <a:prstGeom prst="roundRect">
            <a:avLst/>
          </a:prstGeom>
          <a:solidFill>
            <a:srgbClr val="C6F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0" y="2331720"/>
            <a:ext cx="2560320" cy="109728"/>
          </a:xfrm>
          <a:prstGeom prst="roundRect">
            <a:avLst/>
          </a:prstGeom>
          <a:solidFill>
            <a:srgbClr val="3A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2606040"/>
            <a:ext cx="2103120" cy="109728"/>
          </a:xfrm>
          <a:prstGeom prst="roundRect">
            <a:avLst/>
          </a:prstGeom>
          <a:solidFill>
            <a:srgbClr val="3A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0" y="2880360"/>
            <a:ext cx="2423160" cy="109728"/>
          </a:xfrm>
          <a:prstGeom prst="roundRect">
            <a:avLst/>
          </a:prstGeom>
          <a:solidFill>
            <a:srgbClr val="3A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0" y="3474720"/>
            <a:ext cx="1554480" cy="164592"/>
          </a:xfrm>
          <a:prstGeom prst="round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0" y="3822191"/>
            <a:ext cx="2194560" cy="164592"/>
          </a:xfrm>
          <a:prstGeom prst="round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914400"/>
            <a:ext cx="6675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1" i="0">
                <a:solidFill>
                  <a:srgbClr val="2BDCDA"/>
                </a:solidFill>
                <a:latin typeface="Aptos"/>
              </a:defRPr>
            </a:pPr>
            <a:r>
              <a:t>PRUEBA TÉCNICA  /  TECH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572768"/>
            <a:ext cx="694944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4400" b="1" i="0">
                <a:solidFill>
                  <a:srgbClr val="F5F8FC"/>
                </a:solidFill>
                <a:latin typeface="Aptos Display"/>
              </a:defRPr>
            </a:pPr>
            <a:r>
              <a:t>ORDERFLOW</a:t>
            </a:r>
          </a:p>
          <a:p>
            <a:pPr algn="l">
              <a:spcAft>
                <a:spcPts val="800"/>
              </a:spcAft>
              <a:defRPr sz="4400" b="1" i="0">
                <a:solidFill>
                  <a:srgbClr val="F5F8FC"/>
                </a:solidFill>
                <a:latin typeface="Aptos Display"/>
              </a:defRPr>
            </a:pPr>
            <a:r>
              <a:t>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520440"/>
            <a:ext cx="66751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100" b="0" i="0">
                <a:solidFill>
                  <a:srgbClr val="CCDAEE"/>
                </a:solidFill>
                <a:latin typeface="Aptos"/>
              </a:defRPr>
            </a:pPr>
            <a:r>
              <a:t>Arquitectura, cliente Angular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CCDAEE"/>
                </a:solidFill>
                <a:latin typeface="Aptos"/>
              </a:defRPr>
            </a:pPr>
            <a:r>
              <a:t>y evidencia de entrega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800600"/>
            <a:ext cx="2057400" cy="292608"/>
          </a:xfrm>
          <a:prstGeom prst="roundRect">
            <a:avLst/>
          </a:prstGeom>
          <a:solidFill>
            <a:srgbClr val="18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41748"/>
            <a:ext cx="1911095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50" b="1" i="0">
                <a:solidFill>
                  <a:srgbClr val="2BDCDA"/>
                </a:solidFill>
                <a:latin typeface="Aptos"/>
              </a:defRPr>
            </a:pPr>
            <a:r>
              <a:t>SUSTENTACIÓN · 10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98932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900" b="1" i="0">
                <a:solidFill>
                  <a:srgbClr val="A0B1C9"/>
                </a:solidFill>
                <a:latin typeface="Aptos"/>
              </a:defRPr>
            </a:pPr>
            <a:r>
              <a:t>17 OCTUBRE 2026   •   PORTAL EJECUTIVO DE ENTREGA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750" b="1" i="0">
                <a:solidFill>
                  <a:srgbClr val="697E99"/>
                </a:solidFill>
                <a:latin typeface="Aptos"/>
              </a:defRPr>
            </a:pPr>
            <a:r>
              <a:t>ORDERFLOW ENGINE   /   SUSTENTACIÓN TÉCNICA   /   17 OCT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 i="0">
                <a:solidFill>
                  <a:srgbClr val="2BDCDA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900" b="1" i="0">
                <a:solidFill>
                  <a:srgbClr val="1C719B"/>
                </a:solidFill>
                <a:latin typeface="Aptos Display"/>
              </a:defRPr>
            </a:pPr>
            <a:r>
              <a:t>01 / CONTEXTO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502920" cy="41148"/>
          </a:xfrm>
          <a:prstGeom prst="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700" b="1" i="0">
                <a:solidFill>
                  <a:srgbClr val="0A1222"/>
                </a:solidFill>
                <a:latin typeface="Aptos Display"/>
              </a:defRPr>
            </a:pPr>
            <a:r>
              <a:t>Una entrega, dos experiencias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71016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0" i="0">
                <a:solidFill>
                  <a:srgbClr val="5F6F84"/>
                </a:solidFill>
                <a:latin typeface="Aptos"/>
              </a:defRPr>
            </a:pPr>
            <a:r>
              <a:t>La clave es distinguir la vitrina de evaluación de la aplicación real.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03520" cy="329184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0292" cy="3291840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29967"/>
            <a:ext cx="49377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800" b="1" i="0">
                <a:solidFill>
                  <a:srgbClr val="0A1222"/>
                </a:solidFill>
                <a:latin typeface="Aptos"/>
              </a:defRPr>
            </a:pPr>
            <a:r>
              <a:t>01  PORTAL DE ENTREGA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41448"/>
            <a:ext cx="4937759" cy="2633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 i="0">
                <a:solidFill>
                  <a:srgbClr val="48596F"/>
                </a:solidFill>
                <a:latin typeface="Aptos"/>
              </a:defRPr>
            </a:pPr>
            <a:r>
              <a:t>orderflow-engine-page</a:t>
            </a:r>
          </a:p>
          <a:p>
            <a:pPr algn="l">
              <a:spcAft>
                <a:spcPts val="800"/>
              </a:spcAft>
              <a:defRPr sz="1300" b="0" i="0">
                <a:solidFill>
                  <a:srgbClr val="48596F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300" b="0" i="0">
                <a:solidFill>
                  <a:srgbClr val="48596F"/>
                </a:solidFill>
                <a:latin typeface="Aptos"/>
              </a:defRPr>
            </a:pPr>
            <a:r>
              <a:t>Dossier público para revisar requisitos, evidencias, documentos y repositorios. No necesita Docker para la evaluación.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874519"/>
            <a:ext cx="5303520" cy="329184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874519"/>
            <a:ext cx="50292" cy="3291840"/>
          </a:xfrm>
          <a:prstGeom prst="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2029967"/>
            <a:ext cx="49377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800" b="1" i="0">
                <a:solidFill>
                  <a:srgbClr val="0A1222"/>
                </a:solidFill>
                <a:latin typeface="Aptos"/>
              </a:defRPr>
            </a:pPr>
            <a:r>
              <a:t>02  CLIENTE WEB ANGULAR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441448"/>
            <a:ext cx="4937759" cy="2633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 i="0">
                <a:solidFill>
                  <a:srgbClr val="48596F"/>
                </a:solidFill>
                <a:latin typeface="Aptos"/>
              </a:defRPr>
            </a:pPr>
            <a:r>
              <a:t>orderflow-engine-web</a:t>
            </a:r>
          </a:p>
          <a:p>
            <a:pPr algn="l">
              <a:spcAft>
                <a:spcPts val="800"/>
              </a:spcAft>
              <a:defRPr sz="1300" b="0" i="0">
                <a:solidFill>
                  <a:srgbClr val="48596F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300" b="0" i="0">
                <a:solidFill>
                  <a:srgbClr val="48596F"/>
                </a:solidFill>
                <a:latin typeface="Aptos"/>
              </a:defRPr>
            </a:pPr>
            <a:r>
              <a:t>Aplicación B2B real, desarrollada con Angular 22.2.3 y TypeScript 6.0.3. Corre localmente en localhost:8081.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532120"/>
            <a:ext cx="10899648" cy="502920"/>
          </a:xfrm>
          <a:prstGeom prst="round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60136"/>
            <a:ext cx="104241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1" i="0">
                <a:solidFill>
                  <a:srgbClr val="F5F8FC"/>
                </a:solidFill>
                <a:latin typeface="Aptos"/>
              </a:defRPr>
            </a:pPr>
            <a:r>
              <a:t>MENSAJE CLAVE   El portal demuestra la entrega; el cliente Angular implementa el flujo web.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750" b="1" i="0">
                <a:solidFill>
                  <a:srgbClr val="8291A3"/>
                </a:solidFill>
                <a:latin typeface="Aptos"/>
              </a:defRPr>
            </a:pPr>
            <a:r>
              <a:t>ORDERFLOW ENGINE   /   SUSTENTACIÓN TÉCNICA   /   17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 i="0">
                <a:solidFill>
                  <a:srgbClr val="4B89FF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900" b="1" i="0">
                <a:solidFill>
                  <a:srgbClr val="2BDCDA"/>
                </a:solidFill>
                <a:latin typeface="Aptos Display"/>
              </a:defRPr>
            </a:pPr>
            <a:r>
              <a:t>02 / RESULTADOS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502920" cy="41148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700" b="1" i="0">
                <a:solidFill>
                  <a:srgbClr val="F5F8FC"/>
                </a:solidFill>
                <a:latin typeface="Aptos Display"/>
              </a:defRPr>
            </a:pPr>
            <a:r>
              <a:t>La entrega en números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71016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0" i="0">
                <a:solidFill>
                  <a:srgbClr val="A0B1C9"/>
                </a:solidFill>
                <a:latin typeface="Aptos"/>
              </a:defRPr>
            </a:pPr>
            <a:r>
              <a:t>Indicadores reportados en el portal publicado el 17 de octubre de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2606040" cy="150876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D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84831"/>
            <a:ext cx="219456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3500" b="1" i="0">
                <a:solidFill>
                  <a:srgbClr val="2BDCDA"/>
                </a:solidFill>
                <a:latin typeface="Aptos Display"/>
              </a:defRPr>
            </a:pPr>
            <a:r>
              <a:t>852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816352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1" i="0">
                <a:solidFill>
                  <a:srgbClr val="F5F8FC"/>
                </a:solidFill>
                <a:latin typeface="Aptos"/>
              </a:defRPr>
            </a:pPr>
            <a:r>
              <a:t>pruebas automatizadas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920240"/>
            <a:ext cx="2606040" cy="150876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D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084831"/>
            <a:ext cx="219456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3500" b="1" i="0">
                <a:solidFill>
                  <a:srgbClr val="4B89FF"/>
                </a:solidFill>
                <a:latin typeface="Aptos Display"/>
              </a:defRPr>
            </a:pPr>
            <a:r>
              <a:t>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816352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1" i="0">
                <a:solidFill>
                  <a:srgbClr val="F5F8FC"/>
                </a:solidFill>
                <a:latin typeface="Aptos"/>
              </a:defRPr>
            </a:pPr>
            <a:r>
              <a:t>criterios de aceptación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920240"/>
            <a:ext cx="2606040" cy="150876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D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084831"/>
            <a:ext cx="219456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3500" b="1" i="0">
                <a:solidFill>
                  <a:srgbClr val="C6F574"/>
                </a:solidFill>
                <a:latin typeface="Aptos Display"/>
              </a:defRPr>
            </a:pPr>
            <a:r>
              <a:t>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816352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1" i="0">
                <a:solidFill>
                  <a:srgbClr val="F5F8FC"/>
                </a:solidFill>
                <a:latin typeface="Aptos"/>
              </a:defRPr>
            </a:pPr>
            <a:r>
              <a:t>PRs fusionados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44584" y="1920240"/>
            <a:ext cx="2606040" cy="150876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D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27464" y="2084831"/>
            <a:ext cx="219456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3500" b="1" i="0">
                <a:solidFill>
                  <a:srgbClr val="FFB55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5752" y="2816352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1" i="0">
                <a:solidFill>
                  <a:srgbClr val="F5F8FC"/>
                </a:solidFill>
                <a:latin typeface="Aptos"/>
              </a:defRPr>
            </a:pPr>
            <a:r>
              <a:t>países configurados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1" i="0">
                <a:solidFill>
                  <a:srgbClr val="2BDCDA"/>
                </a:solidFill>
                <a:latin typeface="Aptos"/>
              </a:defRPr>
            </a:pPr>
            <a:r>
              <a:t>DESGLOSE DE PRUEBAS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43400"/>
            <a:ext cx="7609482" cy="310896"/>
          </a:xfrm>
          <a:prstGeom prst="round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41002" y="4343400"/>
            <a:ext cx="2624392" cy="310896"/>
          </a:xfrm>
          <a:prstGeom prst="round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65394" y="4343400"/>
            <a:ext cx="313922" cy="310896"/>
          </a:xfrm>
          <a:prstGeom prst="roundRect">
            <a:avLst/>
          </a:prstGeom>
          <a:solidFill>
            <a:srgbClr val="C6F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279317" y="4343400"/>
            <a:ext cx="150682" cy="310896"/>
          </a:xfrm>
          <a:prstGeom prst="roundRect">
            <a:avLst/>
          </a:prstGeom>
          <a:solidFill>
            <a:srgbClr val="FFB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1" i="0">
                <a:solidFill>
                  <a:srgbClr val="F5F8FC"/>
                </a:solidFill>
                <a:latin typeface="Aptos"/>
              </a:defRPr>
            </a:pPr>
            <a:r>
              <a:t>API  606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846320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1" i="0">
                <a:solidFill>
                  <a:srgbClr val="F5F8FC"/>
                </a:solidFill>
                <a:latin typeface="Aptos"/>
              </a:defRPr>
            </a:pPr>
            <a:r>
              <a:t>Web  209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846320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1" i="0">
                <a:solidFill>
                  <a:srgbClr val="F5F8FC"/>
                </a:solidFill>
                <a:latin typeface="Aptos"/>
              </a:defRPr>
            </a:pPr>
            <a:r>
              <a:t>Docs  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4846320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1" i="0">
                <a:solidFill>
                  <a:srgbClr val="F5F8FC"/>
                </a:solidFill>
                <a:latin typeface="Aptos"/>
              </a:defRPr>
            </a:pPr>
            <a:r>
              <a:t>Infra 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96128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A0B1C9"/>
                </a:solidFill>
                <a:latin typeface="Aptos"/>
              </a:defRPr>
            </a:pPr>
            <a:r>
              <a:t>Además: 8 tiendas preconfiguradas  •  209 pruebas del frontend ejecutadas en Chromium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9672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750" b="1" i="0">
                <a:solidFill>
                  <a:srgbClr val="697E99"/>
                </a:solidFill>
                <a:latin typeface="Aptos"/>
              </a:defRPr>
            </a:pPr>
            <a:r>
              <a:t>ORDERFLOW ENGINE   /   SUSTENTACIÓN TÉCNICA   /   17 OCT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 i="0">
                <a:solidFill>
                  <a:srgbClr val="2BDCDA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900" b="1" i="0">
                <a:solidFill>
                  <a:srgbClr val="1C719B"/>
                </a:solidFill>
                <a:latin typeface="Aptos Display"/>
              </a:defRPr>
            </a:pPr>
            <a:r>
              <a:t>03 / DEMOSTRACIÓN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502920" cy="41148"/>
          </a:xfrm>
          <a:prstGeom prst="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700" b="1" i="0">
                <a:solidFill>
                  <a:srgbClr val="0A1222"/>
                </a:solidFill>
                <a:latin typeface="Aptos Display"/>
              </a:defRPr>
            </a:pPr>
            <a:r>
              <a:t>El recorrido de sustentación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71016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0" i="0">
                <a:solidFill>
                  <a:srgbClr val="5F6F84"/>
                </a:solidFill>
                <a:latin typeface="Aptos"/>
              </a:defRPr>
            </a:pPr>
            <a:r>
              <a:t>Cinco paradas para contar la historia sin perder tiempo.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566928" cy="566928"/>
          </a:xfrm>
          <a:prstGeom prst="round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9384"/>
            <a:ext cx="438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1" i="0">
                <a:solidFill>
                  <a:srgbClr val="0A122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801368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0A1222"/>
                </a:solidFill>
                <a:latin typeface="Aptos"/>
              </a:defRPr>
            </a:pPr>
            <a:r>
              <a:t>RESUMEN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10512"/>
            <a:ext cx="6217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19273B"/>
                </a:solidFill>
                <a:latin typeface="Aptos"/>
              </a:defRPr>
            </a:pPr>
            <a:r>
              <a:t>Retos A1, B1, C1, D1, E1 + 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20" y="1892807"/>
            <a:ext cx="777240" cy="292608"/>
          </a:xfrm>
          <a:prstGeom prst="roundRect">
            <a:avLst/>
          </a:prstGeom>
          <a:solidFill>
            <a:srgbClr val="E7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933955"/>
            <a:ext cx="63093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50" b="1" i="0">
                <a:solidFill>
                  <a:srgbClr val="4B89FF"/>
                </a:solidFill>
                <a:latin typeface="Aptos"/>
              </a:defRPr>
            </a:pPr>
            <a:r>
              <a:t>1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624328"/>
            <a:ext cx="566928" cy="566928"/>
          </a:xfrm>
          <a:prstGeom prst="round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770632"/>
            <a:ext cx="438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1" i="0">
                <a:solidFill>
                  <a:srgbClr val="0A122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642616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0A1222"/>
                </a:solidFill>
                <a:latin typeface="Aptos"/>
              </a:defRPr>
            </a:pPr>
            <a:r>
              <a:t>MOTOR DE PRECIOS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651760"/>
            <a:ext cx="6217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19273B"/>
                </a:solidFill>
                <a:latin typeface="Aptos"/>
              </a:defRPr>
            </a:pPr>
            <a:r>
              <a:t>Descuentos, obsequio e impuestos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20" y="2734056"/>
            <a:ext cx="777240" cy="292608"/>
          </a:xfrm>
          <a:prstGeom prst="roundRect">
            <a:avLst/>
          </a:prstGeom>
          <a:solidFill>
            <a:srgbClr val="E7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05872" y="2775204"/>
            <a:ext cx="63093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50" b="1" i="0">
                <a:solidFill>
                  <a:srgbClr val="4B89FF"/>
                </a:solidFill>
                <a:latin typeface="Aptos"/>
              </a:defRPr>
            </a:pPr>
            <a:r>
              <a:t>2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465576"/>
            <a:ext cx="566928" cy="566928"/>
          </a:xfrm>
          <a:prstGeom prst="roundRect">
            <a:avLst/>
          </a:prstGeom>
          <a:solidFill>
            <a:srgbClr val="C6F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611880"/>
            <a:ext cx="438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1" i="0">
                <a:solidFill>
                  <a:srgbClr val="0A122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483864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0A1222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493008"/>
            <a:ext cx="6217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19273B"/>
                </a:solidFill>
                <a:latin typeface="Aptos"/>
              </a:defRPr>
            </a:pPr>
            <a:r>
              <a:t>Seis capturas + evidencias AC-42 a AC-52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20" y="3575304"/>
            <a:ext cx="777240" cy="292608"/>
          </a:xfrm>
          <a:prstGeom prst="roundRect">
            <a:avLst/>
          </a:prstGeom>
          <a:solidFill>
            <a:srgbClr val="E7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05872" y="3616452"/>
            <a:ext cx="63093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50" b="1" i="0">
                <a:solidFill>
                  <a:srgbClr val="4B89FF"/>
                </a:solidFill>
                <a:latin typeface="Aptos"/>
              </a:defRPr>
            </a:pPr>
            <a:r>
              <a:t>2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306824"/>
            <a:ext cx="566928" cy="566928"/>
          </a:xfrm>
          <a:prstGeom prst="roundRect">
            <a:avLst/>
          </a:prstGeom>
          <a:solidFill>
            <a:srgbClr val="FFB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453128"/>
            <a:ext cx="438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1" i="0">
                <a:solidFill>
                  <a:srgbClr val="0A122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4325112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0A1222"/>
                </a:solidFill>
                <a:latin typeface="Aptos"/>
              </a:defRPr>
            </a:pPr>
            <a:r>
              <a:t>ARQUITECTURA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334256"/>
            <a:ext cx="6217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19273B"/>
                </a:solidFill>
                <a:latin typeface="Aptos"/>
              </a:defRPr>
            </a:pPr>
            <a:r>
              <a:t>Decisiones ADR, riesgos y mitigaciones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32720" y="4416552"/>
            <a:ext cx="777240" cy="292608"/>
          </a:xfrm>
          <a:prstGeom prst="roundRect">
            <a:avLst/>
          </a:prstGeom>
          <a:solidFill>
            <a:srgbClr val="E7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05872" y="4457700"/>
            <a:ext cx="63093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50" b="1" i="0">
                <a:solidFill>
                  <a:srgbClr val="4B89FF"/>
                </a:solidFill>
                <a:latin typeface="Aptos"/>
              </a:defRPr>
            </a:pPr>
            <a:r>
              <a:t>3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5148072"/>
            <a:ext cx="566928" cy="566928"/>
          </a:xfrm>
          <a:prstGeom prst="roundRect">
            <a:avLst/>
          </a:prstGeom>
          <a:solidFill>
            <a:srgbClr val="FF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294376"/>
            <a:ext cx="438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100" b="1" i="0">
                <a:solidFill>
                  <a:srgbClr val="0A122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5166359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0A1222"/>
                </a:solidFill>
                <a:latin typeface="Aptos"/>
              </a:defRPr>
            </a:pPr>
            <a:r>
              <a:t>CIERRE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5175504"/>
            <a:ext cx="6217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19273B"/>
                </a:solidFill>
                <a:latin typeface="Aptos"/>
              </a:defRPr>
            </a:pPr>
            <a:r>
              <a:t>Documentos oficiales y repositorios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32720" y="5257800"/>
            <a:ext cx="777240" cy="292608"/>
          </a:xfrm>
          <a:prstGeom prst="roundRect">
            <a:avLst/>
          </a:prstGeom>
          <a:solidFill>
            <a:srgbClr val="E7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05872" y="5298948"/>
            <a:ext cx="63093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50" b="1" i="0">
                <a:solidFill>
                  <a:srgbClr val="4B89FF"/>
                </a:solidFill>
                <a:latin typeface="Aptos"/>
              </a:defRPr>
            </a:pPr>
            <a:r>
              <a:t>2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9672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750" b="1" i="0">
                <a:solidFill>
                  <a:srgbClr val="8291A3"/>
                </a:solidFill>
                <a:latin typeface="Aptos"/>
              </a:defRPr>
            </a:pPr>
            <a:r>
              <a:t>ORDERFLOW ENGINE   /   SUSTENTACIÓN TÉCNICA   /   17 OCT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 i="0">
                <a:solidFill>
                  <a:srgbClr val="4B89FF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900" b="1" i="0">
                <a:solidFill>
                  <a:srgbClr val="2BDCDA"/>
                </a:solidFill>
                <a:latin typeface="Aptos Display"/>
              </a:defRPr>
            </a:pPr>
            <a:r>
              <a:t>04 / A1 · MOTOR DE PRECIOS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502920" cy="41148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700" b="1" i="0">
                <a:solidFill>
                  <a:srgbClr val="F5F8FC"/>
                </a:solidFill>
                <a:latin typeface="Aptos Display"/>
              </a:defRPr>
            </a:pPr>
            <a:r>
              <a:t>Haz visible la lógica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71016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0" i="0">
                <a:solidFill>
                  <a:srgbClr val="A0B1C9"/>
                </a:solidFill>
                <a:latin typeface="Aptos"/>
              </a:defRPr>
            </a:pPr>
            <a:r>
              <a:t>El simulador reproduce combinaciones precalculadas de cotización.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4572000" cy="361188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D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84831"/>
            <a:ext cx="3840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1" i="0">
                <a:solidFill>
                  <a:srgbClr val="2BDCDA"/>
                </a:solidFill>
                <a:latin typeface="Aptos"/>
              </a:defRPr>
            </a:pPr>
            <a:r>
              <a:t>COTIZACIÓN  /  CO-ALPHA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42032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 i="0">
                <a:solidFill>
                  <a:srgbClr val="F5F8FC"/>
                </a:solidFill>
                <a:latin typeface="Aptos"/>
              </a:defRPr>
            </a:pPr>
            <a:r>
              <a:t>BEV-COLA-350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523744"/>
            <a:ext cx="914400" cy="292608"/>
          </a:xfrm>
          <a:prstGeom prst="roundRect">
            <a:avLst/>
          </a:prstGeom>
          <a:solidFill>
            <a:srgbClr val="213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9352" y="2564891"/>
            <a:ext cx="76809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50" b="1" i="0">
                <a:solidFill>
                  <a:srgbClr val="2BDCDA"/>
                </a:solidFill>
                <a:latin typeface="Aptos"/>
              </a:defRPr>
            </a:pPr>
            <a:r>
              <a:t>QTY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035808"/>
            <a:ext cx="3977639" cy="18288"/>
          </a:xfrm>
          <a:prstGeom prst="rect">
            <a:avLst/>
          </a:prstGeom>
          <a:solidFill>
            <a:srgbClr val="36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73552"/>
            <a:ext cx="3840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 i="0">
                <a:solidFill>
                  <a:srgbClr val="F5F8FC"/>
                </a:solidFill>
                <a:latin typeface="Aptos"/>
              </a:defRPr>
            </a:pPr>
            <a:r>
              <a:t>SNK-CHIPS-45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3255264"/>
            <a:ext cx="914400" cy="292608"/>
          </a:xfrm>
          <a:prstGeom prst="roundRect">
            <a:avLst/>
          </a:prstGeom>
          <a:solidFill>
            <a:srgbClr val="213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9352" y="3296412"/>
            <a:ext cx="76809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50" b="1" i="0">
                <a:solidFill>
                  <a:srgbClr val="C6F574"/>
                </a:solidFill>
                <a:latin typeface="Aptos"/>
              </a:defRPr>
            </a:pPr>
            <a:r>
              <a:t>ON / 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886200"/>
            <a:ext cx="3840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900" b="1" i="0">
                <a:solidFill>
                  <a:srgbClr val="2BDCDA"/>
                </a:solidFill>
                <a:latin typeface="Aptos"/>
              </a:defRPr>
            </a:pPr>
            <a:r>
              <a:t>REGLAS A MOSTRAR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24528"/>
            <a:ext cx="38404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1" i="0">
                <a:solidFill>
                  <a:srgbClr val="F5F8FC"/>
                </a:solidFill>
                <a:latin typeface="Aptos"/>
              </a:defRPr>
            </a:pPr>
            <a:r>
              <a:t>−3% combo</a:t>
            </a:r>
          </a:p>
          <a:p>
            <a:pPr algn="l">
              <a:spcAft>
                <a:spcPts val="800"/>
              </a:spcAft>
              <a:defRPr sz="1200" b="1" i="0">
                <a:solidFill>
                  <a:srgbClr val="F5F8FC"/>
                </a:solidFill>
                <a:latin typeface="Aptos"/>
              </a:defRPr>
            </a:pPr>
            <a:r>
              <a:t>−10% desde 12 u.  ·  −15% desde 50 u.</a:t>
            </a:r>
          </a:p>
          <a:p>
            <a:pPr algn="l">
              <a:spcAft>
                <a:spcPts val="800"/>
              </a:spcAft>
              <a:defRPr sz="1200" b="1" i="0">
                <a:solidFill>
                  <a:srgbClr val="F5F8FC"/>
                </a:solidFill>
                <a:latin typeface="Aptos"/>
              </a:defRPr>
            </a:pPr>
            <a:r>
              <a:t>+ 2 × BEV-WATER-600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1828800"/>
            <a:ext cx="2651760" cy="150876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B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1828800"/>
            <a:ext cx="50292" cy="1508760"/>
          </a:xfrm>
          <a:prstGeom prst="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24728" y="1984248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F5F8FC"/>
                </a:solidFill>
                <a:latin typeface="Aptos"/>
              </a:defRPr>
            </a:pPr>
            <a:r>
              <a:t>IMPUESTO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4728" y="2395728"/>
            <a:ext cx="228600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0" i="0">
                <a:solidFill>
                  <a:srgbClr val="C5D3E6"/>
                </a:solidFill>
                <a:latin typeface="Aptos"/>
              </a:defRPr>
            </a:pPr>
            <a:r>
              <a:t>IVA: 19%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1828800"/>
            <a:ext cx="2651760" cy="150876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B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49640" y="1828800"/>
            <a:ext cx="50292" cy="1508760"/>
          </a:xfrm>
          <a:prstGeom prst="rect">
            <a:avLst/>
          </a:prstGeom>
          <a:solidFill>
            <a:srgbClr val="FFB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50808" y="1984248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F5F8FC"/>
                </a:solidFill>
                <a:latin typeface="Aptos"/>
              </a:defRPr>
            </a:pPr>
            <a:r>
              <a:t>IMPUESTO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2395728"/>
            <a:ext cx="228600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0" i="0">
                <a:solidFill>
                  <a:srgbClr val="C5D3E6"/>
                </a:solidFill>
                <a:latin typeface="Aptos"/>
              </a:defRPr>
            </a:pPr>
            <a:r>
              <a:t>Azúcar: 10%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611880"/>
            <a:ext cx="5577840" cy="182880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B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3611880"/>
            <a:ext cx="50292" cy="1828800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4728" y="3767328"/>
            <a:ext cx="52120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CÓMO DEMOSTRARLO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4728" y="4178808"/>
            <a:ext cx="5212079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C5D3E6"/>
                </a:solidFill>
                <a:latin typeface="Aptos"/>
              </a:defRPr>
            </a:pPr>
            <a:r>
              <a:t>Aumenta/disminuye BEV-COLA-350 y alterna SNK-CHIPS-45. Explica qué regla se activa y muestra el resultado.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750" b="1" i="0">
                <a:solidFill>
                  <a:srgbClr val="697E99"/>
                </a:solidFill>
                <a:latin typeface="Aptos"/>
              </a:defRPr>
            </a:pPr>
            <a:r>
              <a:t>ORDERFLOW ENGINE   /   SUSTENTACIÓN TÉCNICA   /   17 OCT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 i="0">
                <a:solidFill>
                  <a:srgbClr val="2BDCDA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900" b="1" i="0">
                <a:solidFill>
                  <a:srgbClr val="1C719B"/>
                </a:solidFill>
                <a:latin typeface="Aptos Display"/>
              </a:defRPr>
            </a:pPr>
            <a:r>
              <a:t>05 /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502920" cy="41148"/>
          </a:xfrm>
          <a:prstGeom prst="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700" b="1" i="0">
                <a:solidFill>
                  <a:srgbClr val="0A1222"/>
                </a:solidFill>
                <a:latin typeface="Aptos Display"/>
              </a:defRPr>
            </a:pPr>
            <a:r>
              <a:t>Una arquitectura estática, enfocada en evidencia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71016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0" i="0">
                <a:solidFill>
                  <a:srgbClr val="5F6F84"/>
                </a:solidFill>
                <a:latin typeface="Aptos"/>
              </a:defRPr>
            </a:pPr>
            <a:r>
              <a:t>Separación clara entre contenido, lógica, visor y datos.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141732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50292" cy="1417320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0A1222"/>
                </a:solidFill>
                <a:latin typeface="Aptos"/>
              </a:defRPr>
            </a:pPr>
            <a:r>
              <a:t>HTML5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95728"/>
            <a:ext cx="310896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50" b="0" i="0">
                <a:solidFill>
                  <a:srgbClr val="48596F"/>
                </a:solidFill>
                <a:latin typeface="Aptos"/>
              </a:defRPr>
            </a:pPr>
            <a:r>
              <a:t>index.html</a:t>
            </a:r>
          </a:p>
          <a:p>
            <a:pPr algn="l">
              <a:spcAft>
                <a:spcPts val="800"/>
              </a:spcAft>
              <a:defRPr sz="1050" b="0" i="0">
                <a:solidFill>
                  <a:srgbClr val="48596F"/>
                </a:solidFill>
                <a:latin typeface="Aptos"/>
              </a:defRPr>
            </a:pPr>
            <a:r>
              <a:t>Estructura semántica + navegación por hash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474720" cy="141732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50292" cy="1417320"/>
          </a:xfrm>
          <a:prstGeom prst="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984248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0A1222"/>
                </a:solidFill>
                <a:latin typeface="Aptos"/>
              </a:defRPr>
            </a:pPr>
            <a:r>
              <a:t>CSS3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95728"/>
            <a:ext cx="310896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50" b="0" i="0">
                <a:solidFill>
                  <a:srgbClr val="48596F"/>
                </a:solidFill>
                <a:latin typeface="Aptos"/>
              </a:defRPr>
            </a:pPr>
            <a:r>
              <a:t>style.css</a:t>
            </a:r>
          </a:p>
          <a:p>
            <a:pPr algn="l">
              <a:spcAft>
                <a:spcPts val="800"/>
              </a:spcAft>
              <a:defRPr sz="1050" b="0" i="0">
                <a:solidFill>
                  <a:srgbClr val="48596F"/>
                </a:solidFill>
                <a:latin typeface="Aptos"/>
              </a:defRPr>
            </a:pPr>
            <a:r>
              <a:t>Diseño responsivo, móvil e impresión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828800"/>
            <a:ext cx="3474720" cy="141732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828800"/>
            <a:ext cx="50292" cy="1417320"/>
          </a:xfrm>
          <a:prstGeom prst="rect">
            <a:avLst/>
          </a:prstGeom>
          <a:solidFill>
            <a:srgbClr val="C6F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984248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0A1222"/>
                </a:solidFill>
                <a:latin typeface="Aptos"/>
              </a:defRPr>
            </a:pPr>
            <a:r>
              <a:t>JS ES2022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395728"/>
            <a:ext cx="310896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50" b="0" i="0">
                <a:solidFill>
                  <a:srgbClr val="48596F"/>
                </a:solidFill>
                <a:latin typeface="Aptos"/>
              </a:defRPr>
            </a:pPr>
            <a:r>
              <a:t>app.js</a:t>
            </a:r>
          </a:p>
          <a:p>
            <a:pPr algn="l">
              <a:spcAft>
                <a:spcPts val="800"/>
              </a:spcAft>
              <a:defRPr sz="1050" b="0" i="0">
                <a:solidFill>
                  <a:srgbClr val="48596F"/>
                </a:solidFill>
                <a:latin typeface="Aptos"/>
              </a:defRPr>
            </a:pPr>
            <a:r>
              <a:t>Idioma ES/EN, paginadores y simulador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474720" cy="141732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657600"/>
            <a:ext cx="50292" cy="1417320"/>
          </a:xfrm>
          <a:prstGeom prst="rect">
            <a:avLst/>
          </a:prstGeom>
          <a:solidFill>
            <a:srgbClr val="FFB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813048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0A1222"/>
                </a:solidFill>
                <a:latin typeface="Aptos"/>
              </a:defRPr>
            </a:pPr>
            <a:r>
              <a:t>VISOR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224528"/>
            <a:ext cx="310896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50" b="0" i="0">
                <a:solidFill>
                  <a:srgbClr val="48596F"/>
                </a:solidFill>
                <a:latin typeface="Aptos"/>
              </a:defRPr>
            </a:pPr>
            <a:r>
              <a:t>viewer.js</a:t>
            </a:r>
          </a:p>
          <a:p>
            <a:pPr algn="l">
              <a:spcAft>
                <a:spcPts val="800"/>
              </a:spcAft>
              <a:defRPr sz="1050" b="0" i="0">
                <a:solidFill>
                  <a:srgbClr val="48596F"/>
                </a:solidFill>
                <a:latin typeface="Aptos"/>
              </a:defRPr>
            </a:pPr>
            <a:r>
              <a:t>Modal para archivos y código de GitHub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657600"/>
            <a:ext cx="3474720" cy="141732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657600"/>
            <a:ext cx="50292" cy="1417320"/>
          </a:xfrm>
          <a:prstGeom prst="rect">
            <a:avLst/>
          </a:prstGeom>
          <a:solidFill>
            <a:srgbClr val="FF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3813048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0A1222"/>
                </a:solidFill>
                <a:latin typeface="Aptos"/>
              </a:defRPr>
            </a:pPr>
            <a:r>
              <a:t>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224528"/>
            <a:ext cx="310896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50" b="0" i="0">
                <a:solidFill>
                  <a:srgbClr val="48596F"/>
                </a:solidFill>
                <a:latin typeface="Aptos"/>
              </a:defRPr>
            </a:pPr>
            <a:r>
              <a:t>evidence.json</a:t>
            </a:r>
          </a:p>
          <a:p>
            <a:pPr algn="l">
              <a:spcAft>
                <a:spcPts val="800"/>
              </a:spcAft>
              <a:defRPr sz="1050" b="0" i="0">
                <a:solidFill>
                  <a:srgbClr val="48596F"/>
                </a:solidFill>
                <a:latin typeface="Aptos"/>
              </a:defRPr>
            </a:pPr>
            <a:r>
              <a:t>Criterios de aceptación ↔ pruebas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657600"/>
            <a:ext cx="3474720" cy="141732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657600"/>
            <a:ext cx="50292" cy="1417320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813048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0A1222"/>
                </a:solidFill>
                <a:latin typeface="Aptos"/>
              </a:defRPr>
            </a:pPr>
            <a:r>
              <a:t>i18n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224528"/>
            <a:ext cx="310896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50" b="0" i="0">
                <a:solidFill>
                  <a:srgbClr val="48596F"/>
                </a:solidFill>
                <a:latin typeface="Aptos"/>
              </a:defRPr>
            </a:pPr>
            <a:r>
              <a:t>es.json / en.json</a:t>
            </a:r>
          </a:p>
          <a:p>
            <a:pPr algn="l">
              <a:spcAft>
                <a:spcPts val="800"/>
              </a:spcAft>
              <a:defRPr sz="1050" b="0" i="0">
                <a:solidFill>
                  <a:srgbClr val="48596F"/>
                </a:solidFill>
                <a:latin typeface="Aptos"/>
              </a:defRPr>
            </a:pPr>
            <a:r>
              <a:t>Diccionarios bilingües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15000"/>
            <a:ext cx="10698480" cy="384048"/>
          </a:xfrm>
          <a:prstGeom prst="roundRect">
            <a:avLst/>
          </a:prstGeom>
          <a:solidFill>
            <a:srgbClr val="E7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797296"/>
            <a:ext cx="10332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1" i="0">
                <a:solidFill>
                  <a:srgbClr val="4B89FF"/>
                </a:solidFill>
                <a:latin typeface="Aptos"/>
              </a:defRPr>
            </a:pPr>
            <a:r>
              <a:t>El visor abre documentos y código en un modal: el evaluador no pierde el contexto del portal.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9672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750" b="1" i="0">
                <a:solidFill>
                  <a:srgbClr val="8291A3"/>
                </a:solidFill>
                <a:latin typeface="Aptos"/>
              </a:defRPr>
            </a:pPr>
            <a:r>
              <a:t>ORDERFLOW ENGINE   /   SUSTENTACIÓN TÉCNICA   /   17 OCT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 i="0">
                <a:solidFill>
                  <a:srgbClr val="4B89FF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900" b="1" i="0">
                <a:solidFill>
                  <a:srgbClr val="1C719B"/>
                </a:solidFill>
                <a:latin typeface="Aptos Display"/>
              </a:defRPr>
            </a:pPr>
            <a:r>
              <a:t>06 / CALIDAD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502920" cy="41148"/>
          </a:xfrm>
          <a:prstGeom prst="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700" b="1" i="0">
                <a:solidFill>
                  <a:srgbClr val="0A1222"/>
                </a:solidFill>
                <a:latin typeface="Aptos Display"/>
              </a:defRPr>
            </a:pPr>
            <a:r>
              <a:t>Calidad visible: seguridad y accesibilidad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320040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50292" cy="3200400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 i="0">
                <a:solidFill>
                  <a:srgbClr val="0A1222"/>
                </a:solidFill>
                <a:latin typeface="Aptos"/>
              </a:defRPr>
            </a:pPr>
            <a:r>
              <a:t>SEGURIDAD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3154680" cy="2542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 i="0">
                <a:solidFill>
                  <a:srgbClr val="48596F"/>
                </a:solidFill>
                <a:latin typeface="Aptos"/>
              </a:defRPr>
            </a:pPr>
            <a:r>
              <a:t>escapeHtml() escapa caracteres especiales antes de insertar contenido en innerHTML.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0440" cy="320040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50292" cy="3200400"/>
          </a:xfrm>
          <a:prstGeom prst="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84248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 i="0">
                <a:solidFill>
                  <a:srgbClr val="0A1222"/>
                </a:solidFill>
                <a:latin typeface="Aptos"/>
              </a:defRPr>
            </a:pPr>
            <a:r>
              <a:t>ACCESIBILIDAD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95728"/>
            <a:ext cx="3154680" cy="2542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 i="0">
                <a:solidFill>
                  <a:srgbClr val="48596F"/>
                </a:solidFill>
                <a:latin typeface="Aptos"/>
              </a:defRPr>
            </a:pPr>
            <a:r>
              <a:t>Skip link, gestión del foco, estados ARIA y respeto por prefers-reduced-motion.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28800"/>
            <a:ext cx="3520440" cy="320040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828800"/>
            <a:ext cx="50292" cy="3200400"/>
          </a:xfrm>
          <a:prstGeom prst="rect">
            <a:avLst/>
          </a:prstGeom>
          <a:solidFill>
            <a:srgbClr val="C6F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984248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 i="0">
                <a:solidFill>
                  <a:srgbClr val="0A1222"/>
                </a:solidFill>
                <a:latin typeface="Aptos"/>
              </a:defRPr>
            </a:pPr>
            <a:r>
              <a:t>EXPERIENCIA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395728"/>
            <a:ext cx="3154680" cy="2542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 i="0">
                <a:solidFill>
                  <a:srgbClr val="48596F"/>
                </a:solidFill>
                <a:latin typeface="Aptos"/>
              </a:defRPr>
            </a:pPr>
            <a:r>
              <a:t>Tablas adaptadas a tarjetas en móvil, soporte de impresión y navegación bilingüe.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86400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0A1222"/>
                </a:solidFill>
                <a:latin typeface="Aptos"/>
              </a:defRPr>
            </a:pPr>
            <a:r>
              <a:t>Defensa: explicar cómo estas decisiones mejoran la revisión y reducen riesgos de interacción.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750" b="1" i="0">
                <a:solidFill>
                  <a:srgbClr val="8291A3"/>
                </a:solidFill>
                <a:latin typeface="Aptos"/>
              </a:defRPr>
            </a:pPr>
            <a:r>
              <a:t>ORDERFLOW ENGINE   /   SUSTENTACIÓN TÉCNICA   /   17 OCT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 i="0">
                <a:solidFill>
                  <a:srgbClr val="4B89FF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900" b="1" i="0">
                <a:solidFill>
                  <a:srgbClr val="2BDCDA"/>
                </a:solidFill>
                <a:latin typeface="Aptos Display"/>
              </a:defRPr>
            </a:pPr>
            <a:r>
              <a:t>07 / CLIENTE ANGULAR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502920" cy="41148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700" b="1" i="0">
                <a:solidFill>
                  <a:srgbClr val="F5F8FC"/>
                </a:solidFill>
                <a:latin typeface="Aptos Display"/>
              </a:defRPr>
            </a:pPr>
            <a:r>
              <a:t>Frontend moderno y testeado en navegador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71016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0" i="0">
                <a:solidFill>
                  <a:srgbClr val="A0B1C9"/>
                </a:solidFill>
                <a:latin typeface="Aptos"/>
              </a:defRPr>
            </a:pPr>
            <a:r>
              <a:t>Tecnologías reportadas por el repositorio orderflow-engine-web.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783080"/>
            <a:ext cx="73152" cy="530352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920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Angular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783080"/>
            <a:ext cx="3794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2BDCDA"/>
                </a:solidFill>
                <a:latin typeface="Aptos"/>
              </a:defRPr>
            </a:pPr>
            <a:r>
              <a:t>22.2.3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783080"/>
            <a:ext cx="4297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CDD9EA"/>
                </a:solidFill>
                <a:latin typeface="Aptos"/>
              </a:defRPr>
            </a:pPr>
            <a:r>
              <a:t>Componentes standalone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587752"/>
            <a:ext cx="73152" cy="530352"/>
          </a:xfrm>
          <a:prstGeom prst="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87752"/>
            <a:ext cx="1920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587752"/>
            <a:ext cx="3794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4B89FF"/>
                </a:solidFill>
                <a:latin typeface="Aptos"/>
              </a:defRPr>
            </a:pPr>
            <a:r>
              <a:t>6.0.3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587752"/>
            <a:ext cx="4297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CDD9EA"/>
                </a:solidFill>
                <a:latin typeface="Aptos"/>
              </a:defRPr>
            </a:pPr>
            <a:r>
              <a:t>Modo estricto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392424"/>
            <a:ext cx="73152" cy="530352"/>
          </a:xfrm>
          <a:prstGeom prst="rect">
            <a:avLst/>
          </a:prstGeom>
          <a:solidFill>
            <a:srgbClr val="C6F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392424"/>
            <a:ext cx="1920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392424"/>
            <a:ext cx="3794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C6F574"/>
                </a:solidFill>
                <a:latin typeface="Aptos"/>
              </a:defRPr>
            </a:pPr>
            <a:r>
              <a:t>signal · computed · rxResource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392424"/>
            <a:ext cx="4297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CDD9EA"/>
                </a:solidFill>
                <a:latin typeface="Aptos"/>
              </a:defRPr>
            </a:pPr>
            <a:r>
              <a:t>Estado reactivo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4197096"/>
            <a:ext cx="73152" cy="530352"/>
          </a:xfrm>
          <a:prstGeom prst="rect">
            <a:avLst/>
          </a:prstGeom>
          <a:solidFill>
            <a:srgbClr val="FFB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97096"/>
            <a:ext cx="1920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i18n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197096"/>
            <a:ext cx="3794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FFB55F"/>
                </a:solidFill>
                <a:latin typeface="Aptos"/>
              </a:defRPr>
            </a:pPr>
            <a:r>
              <a:t>@ngx-translate/core 18.0.0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197096"/>
            <a:ext cx="4297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CDD9EA"/>
                </a:solidFill>
                <a:latin typeface="Aptos"/>
              </a:defRPr>
            </a:pPr>
            <a:r>
              <a:t>Interfaz traducible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5001768"/>
            <a:ext cx="73152" cy="530352"/>
          </a:xfrm>
          <a:prstGeom prst="rect">
            <a:avLst/>
          </a:prstGeom>
          <a:solidFill>
            <a:srgbClr val="FF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001768"/>
            <a:ext cx="1920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 i="0">
                <a:solidFill>
                  <a:srgbClr val="F5F8FC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5001768"/>
            <a:ext cx="3794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FF7396"/>
                </a:solidFill>
                <a:latin typeface="Aptos"/>
              </a:defRPr>
            </a:pPr>
            <a:r>
              <a:t>Vitest + Playwright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5001768"/>
            <a:ext cx="4297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CDD9EA"/>
                </a:solidFill>
                <a:latin typeface="Aptos"/>
              </a:defRPr>
            </a:pPr>
            <a:r>
              <a:t>209 pruebas en Chromium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925312"/>
            <a:ext cx="10607040" cy="329184"/>
          </a:xfrm>
          <a:prstGeom prst="roundRect">
            <a:avLst/>
          </a:prstGeom>
          <a:solidFill>
            <a:srgbClr val="18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989320"/>
            <a:ext cx="102412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1" i="0">
                <a:solidFill>
                  <a:srgbClr val="2BDCDA"/>
                </a:solidFill>
                <a:latin typeface="Aptos"/>
              </a:defRPr>
            </a:pPr>
            <a:r>
              <a:t>Las pruebas miden cajas reales con getBoundingClientRect() en Chromium.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9672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750" b="1" i="0">
                <a:solidFill>
                  <a:srgbClr val="697E99"/>
                </a:solidFill>
                <a:latin typeface="Aptos"/>
              </a:defRPr>
            </a:pPr>
            <a:r>
              <a:t>ORDERFLOW ENGINE   /   SUSTENTACIÓN TÉCNICA   /   17 OCT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 i="0">
                <a:solidFill>
                  <a:srgbClr val="2BDCDA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900" b="1" i="0">
                <a:solidFill>
                  <a:srgbClr val="1C719B"/>
                </a:solidFill>
                <a:latin typeface="Aptos Display"/>
              </a:defRPr>
            </a:pPr>
            <a:r>
              <a:t>08 / PLUS FRONTEND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502920" cy="41148"/>
          </a:xfrm>
          <a:prstGeom prst="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700" b="1" i="0">
                <a:solidFill>
                  <a:srgbClr val="0A1222"/>
                </a:solidFill>
                <a:latin typeface="Aptos Display"/>
              </a:defRPr>
            </a:pPr>
            <a:r>
              <a:t>Tres componentes resuelven tres defectos visuales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3520440" cy="379476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28800"/>
            <a:ext cx="3520440" cy="82296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84831"/>
            <a:ext cx="914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200" b="1" i="0">
                <a:solidFill>
                  <a:srgbClr val="2BDCDA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51760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0A1222"/>
                </a:solidFill>
                <a:latin typeface="Aptos"/>
              </a:defRPr>
            </a:pPr>
            <a:r>
              <a:t>ui-text.ts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108960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1" i="0">
                <a:solidFill>
                  <a:srgbClr val="4B89FF"/>
                </a:solidFill>
                <a:latin typeface="Aptos"/>
              </a:defRPr>
            </a:pPr>
            <a:r>
              <a:t>TEXTO LARGO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66160"/>
            <a:ext cx="3063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19273B"/>
                </a:solidFill>
                <a:latin typeface="Aptos"/>
              </a:defRPr>
            </a:pPr>
            <a:r>
              <a:t>Envuelve cadenas extremas sin elipsis ni desbordamiento.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" y="5074920"/>
            <a:ext cx="1417320" cy="292608"/>
          </a:xfrm>
          <a:prstGeom prst="roundRect">
            <a:avLst/>
          </a:prstGeom>
          <a:solidFill>
            <a:srgbClr val="E7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116068"/>
            <a:ext cx="12710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50" b="1" i="0">
                <a:solidFill>
                  <a:srgbClr val="4B89FF"/>
                </a:solidFill>
                <a:latin typeface="Aptos"/>
              </a:defRPr>
            </a:pPr>
            <a:r>
              <a:t>AC-42 / AC-43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28800"/>
            <a:ext cx="3520440" cy="379476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828800"/>
            <a:ext cx="3520440" cy="82296"/>
          </a:xfrm>
          <a:prstGeom prst="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7" y="2084831"/>
            <a:ext cx="914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200" b="1" i="0">
                <a:solidFill>
                  <a:srgbClr val="4B89FF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7" y="2651760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0A1222"/>
                </a:solidFill>
                <a:latin typeface="Aptos"/>
              </a:defRPr>
            </a:pPr>
            <a:r>
              <a:t>ui-action-bar.ts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7" y="3108960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1" i="0">
                <a:solidFill>
                  <a:srgbClr val="4B89FF"/>
                </a:solidFill>
                <a:latin typeface="Aptos"/>
              </a:defRPr>
            </a:pPr>
            <a:r>
              <a:t>BARRA + TECLADO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7" y="3566160"/>
            <a:ext cx="3063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19273B"/>
                </a:solidFill>
                <a:latin typeface="Aptos"/>
              </a:defRPr>
            </a:pPr>
            <a:r>
              <a:t>Calcula el espacio cubierto por teclado y mantiene objetivos táctiles de 44 × 44 px.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81727" y="5074920"/>
            <a:ext cx="1417320" cy="292608"/>
          </a:xfrm>
          <a:prstGeom prst="roundRect">
            <a:avLst/>
          </a:prstGeom>
          <a:solidFill>
            <a:srgbClr val="E7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5116068"/>
            <a:ext cx="12710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50" b="1" i="0">
                <a:solidFill>
                  <a:srgbClr val="4B89FF"/>
                </a:solidFill>
                <a:latin typeface="Aptos"/>
              </a:defRPr>
            </a:pPr>
            <a:r>
              <a:t>AC-44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2752" y="1828800"/>
            <a:ext cx="3520440" cy="379476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02752" y="1828800"/>
            <a:ext cx="3520440" cy="82296"/>
          </a:xfrm>
          <a:prstGeom prst="rect">
            <a:avLst/>
          </a:prstGeom>
          <a:solidFill>
            <a:srgbClr val="C6F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084831"/>
            <a:ext cx="914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200" b="1" i="0">
                <a:solidFill>
                  <a:srgbClr val="C6F574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651760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0A1222"/>
                </a:solidFill>
                <a:latin typeface="Aptos"/>
              </a:defRPr>
            </a:pPr>
            <a:r>
              <a:t>ui-product-image.ts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108960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1" i="0">
                <a:solidFill>
                  <a:srgbClr val="4B89FF"/>
                </a:solidFill>
                <a:latin typeface="Aptos"/>
              </a:defRPr>
            </a:pPr>
            <a:r>
              <a:t>IMAGEN UNIFORME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566160"/>
            <a:ext cx="3063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19273B"/>
                </a:solidFill>
                <a:latin typeface="Aptos"/>
              </a:defRPr>
            </a:pPr>
            <a:r>
              <a:t>Usa object-fit: contain y fallback a placeholder.svg cuando falla la imagen.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5074920"/>
            <a:ext cx="1417320" cy="292608"/>
          </a:xfrm>
          <a:prstGeom prst="roundRect">
            <a:avLst/>
          </a:prstGeom>
          <a:solidFill>
            <a:srgbClr val="E7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77072" y="5116068"/>
            <a:ext cx="12710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850" b="1" i="0">
                <a:solidFill>
                  <a:srgbClr val="4B89FF"/>
                </a:solidFill>
                <a:latin typeface="Aptos"/>
              </a:defRPr>
            </a:pPr>
            <a:r>
              <a:t>AC-45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750" b="1" i="0">
                <a:solidFill>
                  <a:srgbClr val="8291A3"/>
                </a:solidFill>
                <a:latin typeface="Aptos"/>
              </a:defRPr>
            </a:pPr>
            <a:r>
              <a:t>ORDERFLOW ENGINE   /   SUSTENTACIÓN TÉCNICA   /   17 OCT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 i="0">
                <a:solidFill>
                  <a:srgbClr val="4B89FF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900" b="1" i="0">
                <a:solidFill>
                  <a:srgbClr val="2BDCDA"/>
                </a:solidFill>
                <a:latin typeface="Aptos Display"/>
              </a:defRPr>
            </a:pPr>
            <a:r>
              <a:t>09 / MULTI-TIENDA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502920" cy="41148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700" b="1" i="0">
                <a:solidFill>
                  <a:srgbClr val="F5F8FC"/>
                </a:solidFill>
                <a:latin typeface="Aptos Display"/>
              </a:defRPr>
            </a:pPr>
            <a:r>
              <a:t>El contexto de tienda separa los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71016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0" i="0">
                <a:solidFill>
                  <a:srgbClr val="A0B1C9"/>
                </a:solidFill>
                <a:latin typeface="Aptos"/>
              </a:defRPr>
            </a:pPr>
            <a:r>
              <a:t>La identidad de tienda combina tenantId y customerId.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2057400" cy="109728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D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468880"/>
            <a:ext cx="1837943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1" i="0">
                <a:solidFill>
                  <a:srgbClr val="2BDCDA"/>
                </a:solidFill>
                <a:latin typeface="Aptos"/>
              </a:defRPr>
            </a:pPr>
            <a:r>
              <a:t>SELECTOR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852928"/>
            <a:ext cx="1837943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Tienda A /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286000"/>
            <a:ext cx="2148840" cy="109728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D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468880"/>
            <a:ext cx="19293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1" i="0">
                <a:solidFill>
                  <a:srgbClr val="4B89FF"/>
                </a:solidFill>
                <a:latin typeface="Aptos"/>
              </a:defRPr>
            </a:pPr>
            <a:r>
              <a:t>storeKey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852928"/>
            <a:ext cx="192938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tenantId/customerId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286000"/>
            <a:ext cx="2148840" cy="109728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D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8" y="2468880"/>
            <a:ext cx="19293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1" i="0">
                <a:solidFill>
                  <a:srgbClr val="C6F574"/>
                </a:solidFill>
                <a:latin typeface="Aptos"/>
              </a:defRPr>
            </a:pPr>
            <a:r>
              <a:t>CARRITO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2852928"/>
            <a:ext cx="1929384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localStorage · carts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286000"/>
            <a:ext cx="2331720" cy="109728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D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0807" y="2468880"/>
            <a:ext cx="2112263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1" i="0">
                <a:solidFill>
                  <a:srgbClr val="FFB55F"/>
                </a:solidFill>
                <a:latin typeface="Aptos"/>
              </a:defRPr>
            </a:pPr>
            <a:r>
              <a:t>HISTORIAL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7" y="2852928"/>
            <a:ext cx="2112263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000" b="1" i="0">
                <a:solidFill>
                  <a:srgbClr val="F5F8FC"/>
                </a:solidFill>
                <a:latin typeface="Aptos"/>
              </a:defRPr>
            </a:pPr>
            <a:r>
              <a:t>Filtros por cabeceras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633472"/>
            <a:ext cx="365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200" b="1" i="0">
                <a:solidFill>
                  <a:srgbClr val="2BDCD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633472"/>
            <a:ext cx="365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200" b="1" i="0">
                <a:solidFill>
                  <a:srgbClr val="2BDCD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633472"/>
            <a:ext cx="365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200" b="1" i="0">
                <a:solidFill>
                  <a:srgbClr val="2BDCD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069080"/>
            <a:ext cx="4800600" cy="123444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B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069080"/>
            <a:ext cx="50292" cy="1234440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224528"/>
            <a:ext cx="4434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CAMBIO DE TIENDA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636008"/>
            <a:ext cx="443484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0" i="0">
                <a:solidFill>
                  <a:srgbClr val="C5D3E6"/>
                </a:solidFill>
                <a:latin typeface="Aptos"/>
              </a:defRPr>
            </a:pPr>
            <a:r>
              <a:t>El carrito anterior no aparece mezclado en el nuevo contexto.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69080"/>
            <a:ext cx="4800600" cy="123444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B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069080"/>
            <a:ext cx="50292" cy="1234440"/>
          </a:xfrm>
          <a:prstGeom prst="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4224528"/>
            <a:ext cx="4434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CATÁLOGO REACTIVO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636008"/>
            <a:ext cx="443484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0" i="0">
                <a:solidFill>
                  <a:srgbClr val="C5D3E6"/>
                </a:solidFill>
                <a:latin typeface="Aptos"/>
              </a:defRPr>
            </a:pPr>
            <a:r>
              <a:t>rxResource() vuelve a consultar productos; si falla, la UI permite reintentar.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15000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1" i="0">
                <a:solidFill>
                  <a:srgbClr val="A0B1C9"/>
                </a:solidFill>
                <a:latin typeface="Aptos"/>
              </a:defRPr>
            </a:pPr>
            <a:r>
              <a:t>8 tiendas preconfiguradas · 2 por país: CO, EC, GT y 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750" b="1" i="0">
                <a:solidFill>
                  <a:srgbClr val="697E99"/>
                </a:solidFill>
                <a:latin typeface="Aptos"/>
              </a:defRPr>
            </a:pPr>
            <a:r>
              <a:t>ORDERFLOW ENGINE   /   SUSTENTACIÓN TÉCNICA   /   17 OCT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 i="0">
                <a:solidFill>
                  <a:srgbClr val="2BDCD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900" b="1" i="0">
                <a:solidFill>
                  <a:srgbClr val="1C719B"/>
                </a:solidFill>
                <a:latin typeface="Aptos Display"/>
              </a:defRPr>
            </a:pPr>
            <a:r>
              <a:t>10 / TRAZABILIDAD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502920" cy="41148"/>
          </a:xfrm>
          <a:prstGeom prst="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700" b="1" i="0">
                <a:solidFill>
                  <a:srgbClr val="0A1222"/>
                </a:solidFill>
                <a:latin typeface="Aptos Display"/>
              </a:defRPr>
            </a:pPr>
            <a:r>
              <a:t>La evidencia conecta requisito, código y prueba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971800" cy="182880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423160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1" i="0">
                <a:solidFill>
                  <a:srgbClr val="2BDCDA"/>
                </a:solidFill>
                <a:latin typeface="Aptos"/>
              </a:defRPr>
            </a:pPr>
            <a:r>
              <a:t>REQUISITO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926080"/>
            <a:ext cx="25603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300" b="0" i="0">
                <a:solidFill>
                  <a:srgbClr val="19273B"/>
                </a:solidFill>
                <a:latin typeface="Aptos"/>
              </a:defRPr>
            </a:pPr>
            <a:r>
              <a:t>Criterio de aceptación</a:t>
            </a:r>
          </a:p>
          <a:p>
            <a:pPr algn="ctr">
              <a:spcAft>
                <a:spcPts val="800"/>
              </a:spcAft>
              <a:defRPr sz="1300" b="0" i="0">
                <a:solidFill>
                  <a:srgbClr val="19273B"/>
                </a:solidFill>
                <a:latin typeface="Aptos"/>
              </a:defRPr>
            </a:pPr>
            <a:r>
              <a:t>AC-42 a AC-52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48840"/>
            <a:ext cx="2971800" cy="182880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2423160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1" i="0">
                <a:solidFill>
                  <a:srgbClr val="4B89FF"/>
                </a:solidFill>
                <a:latin typeface="Aptos"/>
              </a:defRPr>
            </a:pPr>
            <a:r>
              <a:t>IMPLEMENTACIÓN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926080"/>
            <a:ext cx="25603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300" b="0" i="0">
                <a:solidFill>
                  <a:srgbClr val="19273B"/>
                </a:solidFill>
                <a:latin typeface="Aptos"/>
              </a:defRPr>
            </a:pPr>
            <a:r>
              <a:t>Componente o regla</a:t>
            </a:r>
          </a:p>
          <a:p>
            <a:pPr algn="ctr">
              <a:spcAft>
                <a:spcPts val="800"/>
              </a:spcAft>
              <a:defRPr sz="1300" b="0" i="0">
                <a:solidFill>
                  <a:srgbClr val="19273B"/>
                </a:solidFill>
                <a:latin typeface="Aptos"/>
              </a:defRPr>
            </a:pPr>
            <a:r>
              <a:t>que resuelve el caso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48840"/>
            <a:ext cx="2971800" cy="182880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423160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1" i="0">
                <a:solidFill>
                  <a:srgbClr val="C6F574"/>
                </a:solidFill>
                <a:latin typeface="Aptos"/>
              </a:defRPr>
            </a:pPr>
            <a:r>
              <a:t>PRUEBA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926080"/>
            <a:ext cx="25603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300" b="0" i="0">
                <a:solidFill>
                  <a:srgbClr val="19273B"/>
                </a:solidFill>
                <a:latin typeface="Aptos"/>
              </a:defRPr>
            </a:pPr>
            <a:r>
              <a:t>Spec automatizado</a:t>
            </a:r>
          </a:p>
          <a:p>
            <a:pPr algn="ctr">
              <a:spcAft>
                <a:spcPts val="800"/>
              </a:spcAft>
              <a:defRPr sz="1300" b="0" i="0">
                <a:solidFill>
                  <a:srgbClr val="19273B"/>
                </a:solidFill>
                <a:latin typeface="Aptos"/>
              </a:defRPr>
            </a:pPr>
            <a:r>
              <a:t>+ navegador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788920"/>
            <a:ext cx="457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 i="0">
                <a:solidFill>
                  <a:srgbClr val="4B8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788920"/>
            <a:ext cx="457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 i="0">
                <a:solidFill>
                  <a:srgbClr val="4B8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754880"/>
            <a:ext cx="10149840" cy="640080"/>
          </a:xfrm>
          <a:prstGeom prst="round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956048"/>
            <a:ext cx="9692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1" i="0">
                <a:solidFill>
                  <a:srgbClr val="F5F8FC"/>
                </a:solidFill>
                <a:latin typeface="Aptos"/>
              </a:defRPr>
            </a:pPr>
            <a:r>
              <a:t>La afirmación técnica es más fuerte cuando se puede abrir su evidencia en el portal.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750" b="1" i="0">
                <a:solidFill>
                  <a:srgbClr val="8291A3"/>
                </a:solidFill>
                <a:latin typeface="Aptos"/>
              </a:defRPr>
            </a:pPr>
            <a:r>
              <a:t>ORDERFLOW ENGINE   /   SUSTENTACIÓN TÉCNICA   /   17 OCT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 i="0">
                <a:solidFill>
                  <a:srgbClr val="4B89F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900" b="1" i="0">
                <a:solidFill>
                  <a:srgbClr val="2BDCDA"/>
                </a:solidFill>
                <a:latin typeface="Aptos Display"/>
              </a:defRPr>
            </a:pPr>
            <a:r>
              <a:t>11 / EJECUCIÓN LOCAL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502920" cy="41148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700" b="1" i="0">
                <a:solidFill>
                  <a:srgbClr val="F5F8FC"/>
                </a:solidFill>
                <a:latin typeface="Aptos Display"/>
              </a:defRPr>
            </a:pPr>
            <a:r>
              <a:t>Cómo levantar la aplicación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71016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100" b="0" i="0">
                <a:solidFill>
                  <a:srgbClr val="A0B1C9"/>
                </a:solidFill>
                <a:latin typeface="Aptos"/>
              </a:defRPr>
            </a:pPr>
            <a:r>
              <a:t>El portal público puede revisarse sin Docker; estos pasos levantan el stack local.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44200" cy="242316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D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84831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2BDCDA"/>
                </a:solidFill>
                <a:latin typeface="Consolas"/>
              </a:defRPr>
            </a:pPr>
            <a:r>
              <a:t>git clone --recurse-submodules \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7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F5F8FC"/>
                </a:solidFill>
                <a:latin typeface="Consolas"/>
              </a:defRPr>
            </a:pPr>
            <a:r>
              <a:t>  https://github.com/ariel5253/orderflow-engine-app.git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06624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F5F8FC"/>
                </a:solidFill>
                <a:latin typeface="Consola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51560" y="3017520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2BDCDA"/>
                </a:solidFill>
                <a:latin typeface="Consolas"/>
              </a:defRPr>
            </a:pPr>
            <a:r>
              <a:t>cd orderflow-engine-app/infra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28415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F5F8FC"/>
                </a:solidFill>
                <a:latin typeface="Consola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51560" y="3639312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0" i="0">
                <a:solidFill>
                  <a:srgbClr val="2BDCDA"/>
                </a:solidFill>
                <a:latin typeface="Consolas"/>
              </a:defRPr>
            </a:pPr>
            <a:r>
              <a:t>docker compose --env-file .env.example up --build -d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63440"/>
            <a:ext cx="4983480" cy="100584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B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663440"/>
            <a:ext cx="50292" cy="1005840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818888"/>
            <a:ext cx="4617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CLIENTE ANGULAR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5230368"/>
            <a:ext cx="46177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C5D3E6"/>
                </a:solidFill>
                <a:latin typeface="Aptos"/>
              </a:defRPr>
            </a:pPr>
            <a:r>
              <a:t>http://localhost:8081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663440"/>
            <a:ext cx="4983480" cy="100584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B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4663440"/>
            <a:ext cx="50292" cy="1005840"/>
          </a:xfrm>
          <a:prstGeom prst="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4818888"/>
            <a:ext cx="4617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F5F8FC"/>
                </a:solidFill>
                <a:latin typeface="Aptos"/>
              </a:defRPr>
            </a:pPr>
            <a:r>
              <a:t>API SPRING BOOT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5230368"/>
            <a:ext cx="46177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 i="0">
                <a:solidFill>
                  <a:srgbClr val="C5D3E6"/>
                </a:solidFill>
                <a:latin typeface="Aptos"/>
              </a:defRPr>
            </a:pPr>
            <a:r>
              <a:t>http://localhost:8080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750" b="1" i="0">
                <a:solidFill>
                  <a:srgbClr val="697E99"/>
                </a:solidFill>
                <a:latin typeface="Aptos"/>
              </a:defRPr>
            </a:pPr>
            <a:r>
              <a:t>ORDERFLOW ENGINE   /   SUSTENTACIÓN TÉCNICA   /   17 OCT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 i="0">
                <a:solidFill>
                  <a:srgbClr val="2BDCD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900" b="1" i="0">
                <a:solidFill>
                  <a:srgbClr val="1C719B"/>
                </a:solidFill>
                <a:latin typeface="Aptos Display"/>
              </a:defRPr>
            </a:pPr>
            <a:r>
              <a:t>12 / DOCUMENTACIÓN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502920" cy="41148"/>
          </a:xfrm>
          <a:prstGeom prst="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700" b="1" i="0">
                <a:solidFill>
                  <a:srgbClr val="0A1222"/>
                </a:solidFill>
                <a:latin typeface="Aptos Display"/>
              </a:defRPr>
            </a:pPr>
            <a:r>
              <a:t>Seis entregables oficiales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074920" cy="100584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73152" cy="1005840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47672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2BDCD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1920240"/>
            <a:ext cx="37490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0A1222"/>
                </a:solidFill>
                <a:latin typeface="Aptos"/>
              </a:defRPr>
            </a:pPr>
            <a:r>
              <a:t>Manual de 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295144"/>
            <a:ext cx="3840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0" i="0">
                <a:solidFill>
                  <a:srgbClr val="5F6F84"/>
                </a:solidFill>
                <a:latin typeface="Aptos"/>
              </a:defRPr>
            </a:pPr>
            <a:r>
              <a:t>ES ·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074920" cy="100584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73152" cy="1005840"/>
          </a:xfrm>
          <a:prstGeom prst="rect">
            <a:avLst/>
          </a:prstGeom>
          <a:solidFill>
            <a:srgbClr val="4B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47672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4B89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920240"/>
            <a:ext cx="37490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0A1222"/>
                </a:solidFill>
                <a:latin typeface="Aptos"/>
              </a:defRPr>
            </a:pPr>
            <a:r>
              <a:t>Manual técnico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295144"/>
            <a:ext cx="3840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0" i="0">
                <a:solidFill>
                  <a:srgbClr val="5F6F84"/>
                </a:solidFill>
                <a:latin typeface="Aptos"/>
              </a:defRPr>
            </a:pPr>
            <a:r>
              <a:t>ES · 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081528"/>
            <a:ext cx="5074920" cy="100584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081528"/>
            <a:ext cx="73152" cy="1005840"/>
          </a:xfrm>
          <a:prstGeom prst="rect">
            <a:avLst/>
          </a:prstGeom>
          <a:solidFill>
            <a:srgbClr val="C6F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246120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C6F57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3218688"/>
            <a:ext cx="37490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0A1222"/>
                </a:solidFill>
                <a:latin typeface="Aptos"/>
              </a:defRPr>
            </a:pPr>
            <a:r>
              <a:t>Informe de arquitectura APA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3593592"/>
            <a:ext cx="3840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0" i="0">
                <a:solidFill>
                  <a:srgbClr val="5F6F84"/>
                </a:solidFill>
                <a:latin typeface="Aptos"/>
              </a:defRPr>
            </a:pPr>
            <a:r>
              <a:t>ES · PDF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081528"/>
            <a:ext cx="5074920" cy="100584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081528"/>
            <a:ext cx="73152" cy="1005840"/>
          </a:xfrm>
          <a:prstGeom prst="rect">
            <a:avLst/>
          </a:prstGeom>
          <a:solidFill>
            <a:srgbClr val="FFB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246120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FFB55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218688"/>
            <a:ext cx="37490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0A1222"/>
                </a:solidFill>
                <a:latin typeface="Aptos"/>
              </a:defRPr>
            </a:pPr>
            <a:r>
              <a:t>Recorrido de la solución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593592"/>
            <a:ext cx="3840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0" i="0">
                <a:solidFill>
                  <a:srgbClr val="5F6F84"/>
                </a:solidFill>
                <a:latin typeface="Aptos"/>
              </a:defRPr>
            </a:pPr>
            <a:r>
              <a:t>ES · PDF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379976"/>
            <a:ext cx="5074920" cy="100584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379976"/>
            <a:ext cx="73152" cy="1005840"/>
          </a:xfrm>
          <a:prstGeom prst="rect">
            <a:avLst/>
          </a:prstGeom>
          <a:solidFill>
            <a:srgbClr val="FF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544568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FF739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19" y="4517136"/>
            <a:ext cx="37490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0A1222"/>
                </a:solidFill>
                <a:latin typeface="Aptos"/>
              </a:defRPr>
            </a:pPr>
            <a:r>
              <a:t>Presentación ejecutiva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4892040"/>
            <a:ext cx="3840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0" i="0">
                <a:solidFill>
                  <a:srgbClr val="5F6F84"/>
                </a:solidFill>
                <a:latin typeface="Aptos"/>
              </a:defRPr>
            </a:pPr>
            <a:r>
              <a:t>20 diapositivas · PPTX 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379976"/>
            <a:ext cx="5074920" cy="100584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379976"/>
            <a:ext cx="73152" cy="1005840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544568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 i="0">
                <a:solidFill>
                  <a:srgbClr val="2BDCD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517136"/>
            <a:ext cx="37490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 i="0">
                <a:solidFill>
                  <a:srgbClr val="0A1222"/>
                </a:solidFill>
                <a:latin typeface="Aptos"/>
              </a:defRPr>
            </a:pPr>
            <a:r>
              <a:t>ADR-0001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892040"/>
            <a:ext cx="3840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0" i="0">
                <a:solidFill>
                  <a:srgbClr val="5F6F84"/>
                </a:solidFill>
                <a:latin typeface="Aptos"/>
              </a:defRPr>
            </a:pPr>
            <a:r>
              <a:t>1 página · 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9672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750" b="1" i="0">
                <a:solidFill>
                  <a:srgbClr val="8291A3"/>
                </a:solidFill>
                <a:latin typeface="Aptos"/>
              </a:defRPr>
            </a:pPr>
            <a:r>
              <a:t>ORDERFLOW ENGINE   /   SUSTENTACIÓN TÉCNICA   /   17 OCT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 i="0">
                <a:solidFill>
                  <a:srgbClr val="4B89FF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900" b="1" i="0">
                <a:solidFill>
                  <a:srgbClr val="2BDCDA"/>
                </a:solidFill>
                <a:latin typeface="Aptos Display"/>
              </a:defRPr>
            </a:pPr>
            <a:r>
              <a:t>CIERRE / PREGUNTAS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566928"/>
            <a:ext cx="502920" cy="41148"/>
          </a:xfrm>
          <a:prstGeom prst="rect">
            <a:avLst/>
          </a:prstGeom>
          <a:solidFill>
            <a:srgbClr val="2B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7680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3000" b="1" i="0">
                <a:solidFill>
                  <a:srgbClr val="F5F8FC"/>
                </a:solidFill>
                <a:latin typeface="Aptos Display"/>
              </a:defRPr>
            </a:pPr>
            <a:r>
              <a:t>La evidencia convierte</a:t>
            </a:r>
          </a:p>
          <a:p>
            <a:pPr algn="l">
              <a:spcAft>
                <a:spcPts val="800"/>
              </a:spcAft>
              <a:defRPr sz="3000" b="1" i="0">
                <a:solidFill>
                  <a:srgbClr val="F5F8FC"/>
                </a:solidFill>
                <a:latin typeface="Aptos Display"/>
              </a:defRPr>
            </a:pPr>
            <a:r>
              <a:t>la entrega en algo verificable.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685800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0" i="0">
                <a:solidFill>
                  <a:srgbClr val="CCDAEE"/>
                </a:solidFill>
                <a:latin typeface="Aptos"/>
              </a:defRPr>
            </a:pPr>
            <a:r>
              <a:t>Requisitos trazables.</a:t>
            </a:r>
          </a:p>
          <a:p>
            <a:pPr algn="l">
              <a:spcAft>
                <a:spcPts val="800"/>
              </a:spcAft>
              <a:defRPr sz="1700" b="0" i="0">
                <a:solidFill>
                  <a:srgbClr val="CCDAEE"/>
                </a:solidFill>
                <a:latin typeface="Aptos"/>
              </a:defRPr>
            </a:pPr>
            <a:r>
              <a:t>Componentes reutilizables.</a:t>
            </a:r>
          </a:p>
          <a:p>
            <a:pPr algn="l">
              <a:spcAft>
                <a:spcPts val="800"/>
              </a:spcAft>
              <a:defRPr sz="1700" b="0" i="0">
                <a:solidFill>
                  <a:srgbClr val="CCDAEE"/>
                </a:solidFill>
                <a:latin typeface="Aptos"/>
              </a:defRPr>
            </a:pPr>
            <a:r>
              <a:t>Aislamiento por tienda.</a:t>
            </a:r>
          </a:p>
          <a:p>
            <a:pPr algn="l">
              <a:spcAft>
                <a:spcPts val="800"/>
              </a:spcAft>
              <a:defRPr sz="1700" b="0" i="0">
                <a:solidFill>
                  <a:srgbClr val="CCDAEE"/>
                </a:solidFill>
                <a:latin typeface="Aptos"/>
              </a:defRPr>
            </a:pPr>
            <a:r>
              <a:t>Pruebas automatizadas.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463040"/>
            <a:ext cx="2468880" cy="3108960"/>
          </a:xfrm>
          <a:prstGeom prst="roundRect">
            <a:avLst/>
          </a:prstGeom>
          <a:solidFill>
            <a:srgbClr val="182943"/>
          </a:solidFill>
          <a:ln w="12700">
            <a:solidFill>
              <a:srgbClr val="2D4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828800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3100" b="1" i="0">
                <a:solidFill>
                  <a:srgbClr val="2BDCDA"/>
                </a:solidFill>
                <a:latin typeface="Aptos Display"/>
              </a:defRPr>
            </a:pPr>
            <a:r>
              <a:t>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697480"/>
            <a:ext cx="1920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1" i="0">
                <a:solidFill>
                  <a:srgbClr val="F5F8FC"/>
                </a:solidFill>
                <a:latin typeface="Aptos"/>
              </a:defRPr>
            </a:pPr>
            <a:r>
              <a:t>¿Preguntas</a:t>
            </a:r>
          </a:p>
          <a:p>
            <a:pPr algn="ctr">
              <a:spcAft>
                <a:spcPts val="800"/>
              </a:spcAft>
              <a:defRPr sz="1400" b="1" i="0">
                <a:solidFill>
                  <a:srgbClr val="F5F8FC"/>
                </a:solidFill>
                <a:latin typeface="Aptos"/>
              </a:defRPr>
            </a:pPr>
            <a:r>
              <a:t>sobre la</a:t>
            </a:r>
          </a:p>
          <a:p>
            <a:pPr algn="ctr">
              <a:spcAft>
                <a:spcPts val="800"/>
              </a:spcAft>
              <a:defRPr sz="1400" b="1" i="0">
                <a:solidFill>
                  <a:srgbClr val="F5F8FC"/>
                </a:solidFill>
                <a:latin typeface="Aptos"/>
              </a:defRPr>
            </a:pPr>
            <a:r>
              <a:t>arquitectura?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1" i="0">
                <a:solidFill>
                  <a:srgbClr val="2BDCDA"/>
                </a:solidFill>
                <a:latin typeface="Aptos"/>
              </a:defRPr>
            </a:pPr>
            <a:r>
              <a:t>Portal: ariel5253.github.io/orderflow-engine-page/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9672"/>
            <a:ext cx="8229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750" b="1" i="0">
                <a:solidFill>
                  <a:srgbClr val="697E99"/>
                </a:solidFill>
                <a:latin typeface="Aptos"/>
              </a:defRPr>
            </a:pPr>
            <a:r>
              <a:t>ORDERFLOW ENGINE   /   SUSTENTACIÓN TÉCNICA   /   17 OCT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 i="0">
                <a:solidFill>
                  <a:srgbClr val="2BDCDA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