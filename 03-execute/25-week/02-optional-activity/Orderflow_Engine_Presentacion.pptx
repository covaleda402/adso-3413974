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66760" y="960120"/>
            <a:ext cx="2560320" cy="146304"/>
          </a:xfrm>
          <a:prstGeom prst="round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23960" y="1435608"/>
            <a:ext cx="2103120" cy="146304"/>
          </a:xfrm>
          <a:prstGeom prst="roundRect">
            <a:avLst/>
          </a:prstGeom>
          <a:solidFill>
            <a:srgbClr val="56BCC6"/>
          </a:solidFill>
          <a:ln>
            <a:solidFill>
              <a:srgbClr val="56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81160" y="1911095"/>
            <a:ext cx="1645920" cy="146304"/>
          </a:xfrm>
          <a:prstGeom prst="round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0" y="3154680"/>
            <a:ext cx="292608" cy="1280160"/>
          </a:xfrm>
          <a:prstGeom prst="round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99448" y="3154680"/>
            <a:ext cx="292608" cy="1280160"/>
          </a:xfrm>
          <a:prstGeom prst="roundRect">
            <a:avLst/>
          </a:prstGeom>
          <a:solidFill>
            <a:srgbClr val="2863A1"/>
          </a:solidFill>
          <a:ln>
            <a:solidFill>
              <a:srgbClr val="28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20656" y="3154680"/>
            <a:ext cx="292608" cy="1280160"/>
          </a:xfrm>
          <a:prstGeom prst="roundRect">
            <a:avLst/>
          </a:prstGeom>
          <a:solidFill>
            <a:srgbClr val="56BCC6"/>
          </a:solidFill>
          <a:ln>
            <a:solidFill>
              <a:srgbClr val="56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341863" y="3154680"/>
            <a:ext cx="292608" cy="1280160"/>
          </a:xfrm>
          <a:prstGeom prst="round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115568"/>
            <a:ext cx="731520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3800" b="1" i="0">
                <a:solidFill>
                  <a:srgbClr val="FFFFFF"/>
                </a:solidFill>
                <a:latin typeface="Aptos"/>
              </a:defRPr>
            </a:pPr>
            <a:r>
              <a:t>ORDERFLOW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148840"/>
            <a:ext cx="726948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2400" b="0" i="0">
                <a:solidFill>
                  <a:srgbClr val="CBE1ED"/>
                </a:solidFill>
                <a:latin typeface="Aptos"/>
              </a:defRPr>
            </a:pPr>
            <a:r>
              <a:t>Arquitectura, precios y confirmación transaccional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94760"/>
            <a:ext cx="71323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700" b="1" i="0">
                <a:solidFill>
                  <a:srgbClr val="E8B03F"/>
                </a:solidFill>
                <a:latin typeface="Aptos"/>
              </a:defRPr>
            </a:pPr>
            <a:r>
              <a:t>Presentación técnica del proyecto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66360"/>
            <a:ext cx="72237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C5D1DC"/>
                </a:solidFill>
                <a:latin typeface="Aptos"/>
              </a:defRPr>
            </a:pPr>
            <a:r>
              <a:t>Motor de precios · PostgreSQL · idempotencia · Outbox · multi-tenancy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989320"/>
            <a:ext cx="7223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97AEBF"/>
                </a:solidFill>
                <a:latin typeface="Aptos"/>
              </a:defRPr>
            </a:pPr>
            <a:r>
              <a:t>Basada en documentación aportada · 17 de octubre de 2026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presentación reconstruida desde cero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El proyecto en una frase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Resolver el precio exacto y confirmar pedidos sin perder consistencia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resumen fiel de los documentos aportados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371600"/>
            <a:ext cx="3493008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371600"/>
            <a:ext cx="82296" cy="3520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536192"/>
            <a:ext cx="310896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PRECIO DETERMINISTA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084832"/>
            <a:ext cx="3108960" cy="2679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Descuentos por escala, combos, obsequios e impuestos deben coexistir en un orden explícito.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371600"/>
            <a:ext cx="3493008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2544" y="1371600"/>
            <a:ext cx="82296" cy="3520440"/>
          </a:xfrm>
          <a:prstGeom prst="rect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536192"/>
            <a:ext cx="310896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CONFIRMACIÓN DURABLE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084832"/>
            <a:ext cx="3108960" cy="2679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El precio aceptado no cambia; un 201 significa que la orden ya está persistida y consultable.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371600"/>
            <a:ext cx="3493008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371600"/>
            <a:ext cx="82296" cy="3520440"/>
          </a:xfrm>
          <a:prstGeom prst="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536192"/>
            <a:ext cx="310896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EVENTOS RESILIENTES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084832"/>
            <a:ext cx="3108960" cy="2679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Push y ERP siguen recibiendo eventos ante fallos; los receptores deben evitar efectos duplicados.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03520"/>
            <a:ext cx="10927080" cy="384048"/>
          </a:xfrm>
          <a:prstGeom prst="roundRect">
            <a:avLst/>
          </a:prstGeom>
          <a:solidFill>
            <a:srgbClr val="E2F4F2"/>
          </a:solidFill>
          <a:ln>
            <a:solidFill>
              <a:srgbClr val="E2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5340096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10223B"/>
                </a:solidFill>
                <a:latin typeface="Aptos"/>
              </a:defRPr>
            </a:pPr>
            <a:r>
              <a:t>La calidad se demuestra con invariantes y pruebas, no solamente con endpoints.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Tres patologías que el diseño busca eliminar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El enunciado parte de fallos de precio, persistencia e integración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resumen fiel de los documentos aportados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03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353312"/>
          <a:ext cx="10972800" cy="4956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2656"/>
                <a:gridCol w="3730752"/>
                <a:gridCol w="4279392"/>
              </a:tblGrid>
              <a:tr h="123901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Problema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Consecuencia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Respuesta arquitectónica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</a:tr>
              <a:tr h="123901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Total cambia entre cotización y confirmación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El cliente termina pagando un valor distinto al aceptado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Cotización sellada; pedido referencia la cotización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123901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“201 fantasma”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Se devuelve número de orden y luego no aparece en historial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201 solo después del commit; lectura inmediata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123901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Evento perdido o duplicado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ERP/Push queda incompleto o recibe efecto repetido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Transactional Outbox + reintentos + deduplicación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Flujo funcional del pedido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Del catálogo al historial; cada fase tiene una responsabilidad distinta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resumen fiel de los documentos aportados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Oval 8"/>
          <p:cNvSpPr/>
          <p:nvPr/>
        </p:nvSpPr>
        <p:spPr>
          <a:xfrm>
            <a:off x="1298448" y="1965960"/>
            <a:ext cx="438912" cy="438912"/>
          </a:xfrm>
          <a:prstGeom prst="ellipse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1975103"/>
            <a:ext cx="43891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42032"/>
            <a:ext cx="1938528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542032"/>
            <a:ext cx="82296" cy="219456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706624"/>
            <a:ext cx="155448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0223B"/>
                </a:solidFill>
                <a:latin typeface="Aptos"/>
              </a:defRPr>
            </a:pPr>
            <a:r>
              <a:t>Catálogo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255263"/>
            <a:ext cx="1554480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23140"/>
                </a:solidFill>
                <a:latin typeface="Aptos"/>
              </a:defRPr>
            </a:pPr>
            <a:r>
              <a:t>SKU y precios de lista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32888" y="3611880"/>
            <a:ext cx="256032" cy="0"/>
          </a:xfrm>
          <a:prstGeom prst="line">
            <a:avLst/>
          </a:prstGeom>
          <a:ln w="2540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584448" y="1965960"/>
            <a:ext cx="438912" cy="438912"/>
          </a:xfrm>
          <a:prstGeom prst="ellipse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4448" y="1975103"/>
            <a:ext cx="43891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52928" y="2542032"/>
            <a:ext cx="1938528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52928" y="2542032"/>
            <a:ext cx="82296" cy="219456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54096" y="2706624"/>
            <a:ext cx="155448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0223B"/>
                </a:solidFill>
                <a:latin typeface="Aptos"/>
              </a:defRPr>
            </a:pPr>
            <a:r>
              <a:t>Carrito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4096" y="3255263"/>
            <a:ext cx="1554480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23140"/>
                </a:solidFill>
                <a:latin typeface="Aptos"/>
              </a:defRPr>
            </a:pPr>
            <a:r>
              <a:t>SKU + cantidad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18888" y="3611880"/>
            <a:ext cx="256032" cy="0"/>
          </a:xfrm>
          <a:prstGeom prst="line">
            <a:avLst/>
          </a:prstGeom>
          <a:ln w="2540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870448" y="1965960"/>
            <a:ext cx="438912" cy="438912"/>
          </a:xfrm>
          <a:prstGeom prst="ellipse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70448" y="1975103"/>
            <a:ext cx="43891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38928" y="2542032"/>
            <a:ext cx="1938528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38928" y="2542032"/>
            <a:ext cx="82296" cy="2194560"/>
          </a:xfrm>
          <a:prstGeom prst="rect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0096" y="2706624"/>
            <a:ext cx="155448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0223B"/>
                </a:solidFill>
                <a:latin typeface="Aptos"/>
              </a:defRPr>
            </a:pPr>
            <a:r>
              <a:t>Cotización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0096" y="3255263"/>
            <a:ext cx="1554480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23140"/>
                </a:solidFill>
                <a:latin typeface="Aptos"/>
              </a:defRPr>
            </a:pPr>
            <a:r>
              <a:t>Palancas + impuestos + total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04888" y="3611880"/>
            <a:ext cx="256031" cy="0"/>
          </a:xfrm>
          <a:prstGeom prst="line">
            <a:avLst/>
          </a:prstGeom>
          <a:ln w="2540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156448" y="1965960"/>
            <a:ext cx="438912" cy="438912"/>
          </a:xfrm>
          <a:prstGeom prst="ellipse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56448" y="1975103"/>
            <a:ext cx="43891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24927" y="2542032"/>
            <a:ext cx="1938528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24927" y="2542032"/>
            <a:ext cx="82296" cy="2194560"/>
          </a:xfrm>
          <a:prstGeom prst="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26096" y="2706624"/>
            <a:ext cx="155448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0223B"/>
                </a:solidFill>
                <a:latin typeface="Aptos"/>
              </a:defRPr>
            </a:pPr>
            <a:r>
              <a:t>Confirmación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6096" y="3255263"/>
            <a:ext cx="1554480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23140"/>
                </a:solidFill>
                <a:latin typeface="Aptos"/>
              </a:defRPr>
            </a:pPr>
            <a:r>
              <a:t>Idempotencia + crédito + commit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90888" y="3611880"/>
            <a:ext cx="256031" cy="0"/>
          </a:xfrm>
          <a:prstGeom prst="line">
            <a:avLst/>
          </a:prstGeom>
          <a:ln w="2540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0442448" y="1965960"/>
            <a:ext cx="438912" cy="438912"/>
          </a:xfrm>
          <a:prstGeom prst="ellipse">
            <a:avLst/>
          </a:prstGeom>
          <a:solidFill>
            <a:srgbClr val="2C895E"/>
          </a:solidFill>
          <a:ln>
            <a:solidFill>
              <a:srgbClr val="2C8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42448" y="1975103"/>
            <a:ext cx="43891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10928" y="2542032"/>
            <a:ext cx="1938528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710928" y="2542032"/>
            <a:ext cx="82296" cy="2194560"/>
          </a:xfrm>
          <a:prstGeom prst="rect">
            <a:avLst/>
          </a:prstGeom>
          <a:solidFill>
            <a:srgbClr val="2C895E"/>
          </a:solidFill>
          <a:ln>
            <a:solidFill>
              <a:srgbClr val="2C8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12096" y="2706624"/>
            <a:ext cx="155448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0223B"/>
                </a:solidFill>
                <a:latin typeface="Aptos"/>
              </a:defRPr>
            </a:pPr>
            <a:r>
              <a:t>Historial / ERP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12096" y="3255263"/>
            <a:ext cx="1554480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23140"/>
                </a:solidFill>
                <a:latin typeface="Aptos"/>
              </a:defRPr>
            </a:pPr>
            <a:r>
              <a:t>Pedido durable + eventos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5257800"/>
            <a:ext cx="10927080" cy="384048"/>
          </a:xfrm>
          <a:prstGeom prst="roundRect">
            <a:avLst/>
          </a:prstGeom>
          <a:solidFill>
            <a:srgbClr val="E2F4F2"/>
          </a:solidFill>
          <a:ln>
            <a:solidFill>
              <a:srgbClr val="E2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8" y="5294376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10223B"/>
                </a:solidFill>
                <a:latin typeface="Aptos"/>
              </a:defRPr>
            </a:pPr>
            <a:r>
              <a:t>La API es la autoridad del cálculo; Angular presenta el desglose, no vuelve a calcularlo.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Qué exige la prueba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Tres bloques obligatorios y un complemento de frontend opcional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resumen fiel de los documentos aportados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389888"/>
            <a:ext cx="349300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389888"/>
            <a:ext cx="82296" cy="429768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554480"/>
            <a:ext cx="310896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A1 · MOTOR DE PRECIOS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103120"/>
            <a:ext cx="3108960" cy="3456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Desglose completo por línea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Orden de las palancas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Cupo de crédito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Dinero exacto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Configuración multi-país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389888"/>
            <a:ext cx="349300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2544" y="1389888"/>
            <a:ext cx="82296" cy="4297680"/>
          </a:xfrm>
          <a:prstGeom prst="rect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554480"/>
            <a:ext cx="310896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A2 · CONFIRMACIÓN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103120"/>
            <a:ext cx="3108960" cy="3456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Idempotency-Key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No duplicar pedidos/crédito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HTTP 201 durable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Outbox para Push/ERP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Modelo de consistencia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389888"/>
            <a:ext cx="349300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389888"/>
            <a:ext cx="82296" cy="4297680"/>
          </a:xfrm>
          <a:prstGeom prst="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554480"/>
            <a:ext cx="310896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A3 · ADR / FRONT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103120"/>
            <a:ext cx="3108960" cy="3456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ADR de máximo una página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Alternativas y exclusiones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Foco de code review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Un riesgo y mitigación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Front opcional con UI robusta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897880"/>
            <a:ext cx="10927080" cy="384048"/>
          </a:xfrm>
          <a:prstGeom prst="roundRect">
            <a:avLst/>
          </a:prstGeom>
          <a:solidFill>
            <a:srgbClr val="FCF5E2"/>
          </a:solidFill>
          <a:ln>
            <a:solidFill>
              <a:srgbClr val="FCF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5934456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10223B"/>
                </a:solidFill>
                <a:latin typeface="Aptos"/>
              </a:defRPr>
            </a:pPr>
            <a:r>
              <a:t>Golden tests obligatorios: seis escenarios, descritos más adelante.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Arquitectura de ejecución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Single Origin: el navegador ve al web server y este hace proxy de /api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resumen fiel de los documentos aportados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65960"/>
            <a:ext cx="2194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965960"/>
            <a:ext cx="82296" cy="1234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130552"/>
            <a:ext cx="18105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0223B"/>
                </a:solidFill>
                <a:latin typeface="Aptos"/>
              </a:defRPr>
            </a:pPr>
            <a:r>
              <a:t>ANGULAR SPA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679191"/>
            <a:ext cx="1810512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23140"/>
                </a:solidFill>
                <a:latin typeface="Aptos"/>
              </a:defRPr>
            </a:pPr>
            <a:r>
              <a:t>Catálogo / carrito / resumen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965960"/>
            <a:ext cx="2148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965960"/>
            <a:ext cx="82296" cy="1234440"/>
          </a:xfrm>
          <a:prstGeom prst="rect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2130552"/>
            <a:ext cx="176479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0223B"/>
                </a:solidFill>
                <a:latin typeface="Aptos"/>
              </a:defRPr>
            </a:pPr>
            <a:r>
              <a:t>NGINX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679191"/>
            <a:ext cx="1764792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23140"/>
                </a:solidFill>
                <a:latin typeface="Aptos"/>
              </a:defRPr>
            </a:pPr>
            <a:r>
              <a:t>Archivos estáticos + proxy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196596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06440" y="1965960"/>
            <a:ext cx="82296" cy="1234440"/>
          </a:xfrm>
          <a:prstGeom prst="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07607" y="2130552"/>
            <a:ext cx="194767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0223B"/>
                </a:solidFill>
                <a:latin typeface="Aptos"/>
              </a:defRPr>
            </a:pPr>
            <a:r>
              <a:t>SPRING BOOT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7607" y="2679191"/>
            <a:ext cx="1947672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23140"/>
                </a:solidFill>
                <a:latin typeface="Aptos"/>
              </a:defRPr>
            </a:pPr>
            <a:r>
              <a:t>Casos de uso + dominio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196596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49640" y="1965960"/>
            <a:ext cx="82296" cy="1234440"/>
          </a:xfrm>
          <a:prstGeom prst="rect">
            <a:avLst/>
          </a:prstGeom>
          <a:solidFill>
            <a:srgbClr val="2C895E"/>
          </a:solidFill>
          <a:ln>
            <a:solidFill>
              <a:srgbClr val="2C8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50808" y="2130552"/>
            <a:ext cx="20391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0223B"/>
                </a:solidFill>
                <a:latin typeface="Aptos"/>
              </a:defRPr>
            </a:pPr>
            <a:r>
              <a:t>POSTGRESQL 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0808" y="2679191"/>
            <a:ext cx="2039112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23140"/>
                </a:solidFill>
                <a:latin typeface="Aptos"/>
              </a:defRPr>
            </a:pPr>
            <a:r>
              <a:t>ACID + cotizaciones + pedidos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852928" y="2578608"/>
            <a:ext cx="347472" cy="0"/>
          </a:xfrm>
          <a:prstGeom prst="line">
            <a:avLst/>
          </a:prstGeom>
          <a:ln w="2540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404104" y="2578608"/>
            <a:ext cx="356616" cy="0"/>
          </a:xfrm>
          <a:prstGeom prst="line">
            <a:avLst/>
          </a:prstGeom>
          <a:ln w="2540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156448" y="2578608"/>
            <a:ext cx="347472" cy="0"/>
          </a:xfrm>
          <a:prstGeom prst="line">
            <a:avLst/>
          </a:prstGeom>
          <a:ln w="2540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806440" y="4114800"/>
            <a:ext cx="23317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06440" y="4114800"/>
            <a:ext cx="82296" cy="10058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07607" y="4279392"/>
            <a:ext cx="194767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0223B"/>
                </a:solidFill>
                <a:latin typeface="Aptos"/>
              </a:defRPr>
            </a:pPr>
            <a:r>
              <a:t>OUTBOX RELAY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07607" y="4828032"/>
            <a:ext cx="1947672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Proceso en segundo plano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49640" y="4114800"/>
            <a:ext cx="1115568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9640" y="4114800"/>
            <a:ext cx="82296" cy="1005840"/>
          </a:xfrm>
          <a:prstGeom prst="rect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50808" y="4279392"/>
            <a:ext cx="7315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10223B"/>
                </a:solidFill>
                <a:latin typeface="Aptos"/>
              </a:defRPr>
            </a:pPr>
            <a:r>
              <a:t>PUSH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50808" y="4828032"/>
            <a:ext cx="7315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Gateway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75520" y="4114800"/>
            <a:ext cx="1097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875520" y="4114800"/>
            <a:ext cx="82296" cy="1005840"/>
          </a:xfrm>
          <a:prstGeom prst="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4279392"/>
            <a:ext cx="71323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10223B"/>
                </a:solidFill>
                <a:latin typeface="Aptos"/>
              </a:defRPr>
            </a:pPr>
            <a:r>
              <a:t>ERP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76688" y="4828032"/>
            <a:ext cx="713232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Publisher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976872" y="3227832"/>
            <a:ext cx="0" cy="822959"/>
          </a:xfrm>
          <a:prstGeom prst="line">
            <a:avLst/>
          </a:prstGeom>
          <a:ln w="2286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183879" y="4617720"/>
            <a:ext cx="301753" cy="0"/>
          </a:xfrm>
          <a:prstGeom prst="line">
            <a:avLst/>
          </a:prstGeom>
          <a:ln w="2286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183879" y="4910328"/>
            <a:ext cx="1645921" cy="0"/>
          </a:xfrm>
          <a:prstGeom prst="line">
            <a:avLst/>
          </a:prstGeom>
          <a:ln w="22860">
            <a:solidFill>
              <a:srgbClr val="E8B0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40080" y="5705856"/>
            <a:ext cx="10927080" cy="384048"/>
          </a:xfrm>
          <a:prstGeom prst="roundRect">
            <a:avLst/>
          </a:prstGeom>
          <a:solidFill>
            <a:srgbClr val="FCF5E2"/>
          </a:solidFill>
          <a:ln>
            <a:solidFill>
              <a:srgbClr val="FCF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8" y="5742432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10223B"/>
                </a:solidFill>
                <a:latin typeface="Aptos"/>
              </a:defRPr>
            </a:pPr>
            <a:r>
              <a:t>Push/ERP no se llaman dentro de la transacción de confirmación.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Arquitectura hexagonal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Las dependencias apuntan hacia el dominio; infraestructura queda detrás de puertos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resumen fiel de los documentos aportados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377440"/>
            <a:ext cx="3063240" cy="1234440"/>
          </a:xfrm>
          <a:prstGeom prst="roundRect">
            <a:avLst/>
          </a:prstGeom>
          <a:solidFill>
            <a:srgbClr val="E2F4F2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2578608"/>
            <a:ext cx="2651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DOMINIO PURO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980944"/>
            <a:ext cx="2514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PricingEngine · Money · Breakdown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1536192"/>
            <a:ext cx="4160520" cy="548640"/>
          </a:xfrm>
          <a:prstGeom prst="roundRect">
            <a:avLst/>
          </a:prstGeom>
          <a:solidFill>
            <a:srgbClr val="EBF2F8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6512" y="1655064"/>
            <a:ext cx="384048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150" b="1" i="0">
                <a:solidFill>
                  <a:srgbClr val="10223B"/>
                </a:solidFill>
                <a:latin typeface="Aptos"/>
              </a:defRPr>
            </a:pPr>
            <a:r>
              <a:t>CASOS DE USO · QUOTE / CONFIRM / OUTBOX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16752" y="2093976"/>
            <a:ext cx="0" cy="237744"/>
          </a:xfrm>
          <a:prstGeom prst="line">
            <a:avLst/>
          </a:prstGeom>
          <a:ln w="2286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" y="2423160"/>
            <a:ext cx="2514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423160"/>
            <a:ext cx="82296" cy="1188720"/>
          </a:xfrm>
          <a:prstGeom prst="rect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2587752"/>
            <a:ext cx="213055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0223B"/>
                </a:solidFill>
                <a:latin typeface="Aptos"/>
              </a:defRPr>
            </a:pPr>
            <a:r>
              <a:t>ENTRADA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3136391"/>
            <a:ext cx="213055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23140"/>
                </a:solidFill>
                <a:latin typeface="Aptos"/>
              </a:defRPr>
            </a:pPr>
            <a:r>
              <a:t>REST controllers / DTOs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42832" y="2423160"/>
            <a:ext cx="2514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42832" y="2423160"/>
            <a:ext cx="82296" cy="1188720"/>
          </a:xfrm>
          <a:prstGeom prst="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2587752"/>
            <a:ext cx="213055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0223B"/>
                </a:solidFill>
                <a:latin typeface="Aptos"/>
              </a:defRPr>
            </a:pPr>
            <a:r>
              <a:t>SALIDA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136391"/>
            <a:ext cx="213055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23140"/>
                </a:solidFill>
                <a:latin typeface="Aptos"/>
              </a:defRPr>
            </a:pPr>
            <a:r>
              <a:t>JdbcClient / repositorios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00400" y="2999232"/>
            <a:ext cx="1188720" cy="0"/>
          </a:xfrm>
          <a:prstGeom prst="line">
            <a:avLst/>
          </a:prstGeom>
          <a:ln w="22860">
            <a:solidFill>
              <a:srgbClr val="346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44383" y="2999232"/>
            <a:ext cx="1252729" cy="0"/>
          </a:xfrm>
          <a:prstGeom prst="line">
            <a:avLst/>
          </a:prstGeom>
          <a:ln w="22860">
            <a:solidFill>
              <a:srgbClr val="E8B0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240280" y="4325112"/>
            <a:ext cx="3017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40280" y="4325112"/>
            <a:ext cx="82296" cy="96012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41448" y="4489704"/>
            <a:ext cx="263347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50" b="1" i="0">
                <a:solidFill>
                  <a:srgbClr val="10223B"/>
                </a:solidFill>
                <a:latin typeface="Aptos"/>
              </a:defRPr>
            </a:pPr>
            <a:r>
              <a:t>PRUEBAS DE ARQUITECTURA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41448" y="5038344"/>
            <a:ext cx="2633472" cy="118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ArchUnit evita dependencias indebidas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03720" y="4325112"/>
            <a:ext cx="3017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03720" y="4325112"/>
            <a:ext cx="82296" cy="960120"/>
          </a:xfrm>
          <a:prstGeom prst="rect">
            <a:avLst/>
          </a:prstGeom>
          <a:solidFill>
            <a:srgbClr val="B44242"/>
          </a:solidFill>
          <a:ln>
            <a:solidFill>
              <a:srgbClr val="B4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04888" y="4489704"/>
            <a:ext cx="263347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50" b="1" i="0">
                <a:solidFill>
                  <a:srgbClr val="10223B"/>
                </a:solidFill>
                <a:latin typeface="Aptos"/>
              </a:defRPr>
            </a:pPr>
            <a:r>
              <a:t>REGLA DE ORO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04888" y="5038344"/>
            <a:ext cx="2633472" cy="118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Dominio sin Spring, JDBC ni HTTP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Por qué monolito modular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La confirmación crítica gana atomicidad sin coordinación distribuida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resumen fiel de los documentos aportados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572768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572768"/>
            <a:ext cx="82296" cy="3566160"/>
          </a:xfrm>
          <a:prstGeom prst="rect">
            <a:avLst/>
          </a:prstGeom>
          <a:solidFill>
            <a:srgbClr val="2C895E"/>
          </a:solidFill>
          <a:ln>
            <a:solidFill>
              <a:srgbClr val="2C8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737360"/>
            <a:ext cx="482803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ELECCIÓN: MONOLITO MODULAR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286000"/>
            <a:ext cx="4828032" cy="2724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Un despliegue principal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Límites internos claros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Una transacción ACID local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Menos dependencia de red entre módulos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572768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572768"/>
            <a:ext cx="82296" cy="3566160"/>
          </a:xfrm>
          <a:prstGeom prst="rect">
            <a:avLst/>
          </a:prstGeom>
          <a:solidFill>
            <a:srgbClr val="B44242"/>
          </a:solidFill>
          <a:ln>
            <a:solidFill>
              <a:srgbClr val="B4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37360"/>
            <a:ext cx="482803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ALTERNATIVA DESCARTADA: MICROSERVICIOS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4828032" cy="2724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Pedido/crédito/cotización quedarían distribuidos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Requeriría Saga o coordinación adicional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Mayor riesgo de estados parciales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Complejidad mayor para el alcance actual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32120"/>
            <a:ext cx="10927080" cy="384048"/>
          </a:xfrm>
          <a:prstGeom prst="roundRect">
            <a:avLst/>
          </a:prstGeom>
          <a:solidFill>
            <a:srgbClr val="FCF5E2"/>
          </a:solidFill>
          <a:ln>
            <a:solidFill>
              <a:srgbClr val="FCF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5568696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10223B"/>
                </a:solidFill>
                <a:latin typeface="Aptos"/>
              </a:defRPr>
            </a:pPr>
            <a:r>
              <a:t>Trade-off: la atomicidad local simplifica la garantía; los locks sobre cuentas activas pueden reducir concurrencia.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Motor de precios: orden documentado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No es intercambiable: evita doble beneficio y calcula el impuesto sobre la base correcta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resumen fiel de los documentos aportados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81328"/>
            <a:ext cx="25786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1618488"/>
            <a:ext cx="347472" cy="347472"/>
          </a:xfrm>
          <a:prstGeom prst="ellipse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627632"/>
            <a:ext cx="3474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600200"/>
            <a:ext cx="1892807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1" i="0">
                <a:solidFill>
                  <a:srgbClr val="10223B"/>
                </a:solidFill>
                <a:latin typeface="Aptos"/>
              </a:defRPr>
            </a:pPr>
            <a:r>
              <a:t>Elegibilidad del regalo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066544"/>
            <a:ext cx="224942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Compra pagada / subtotal bruto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28416" y="2148840"/>
            <a:ext cx="219456" cy="0"/>
          </a:xfrm>
          <a:prstGeom prst="line">
            <a:avLst/>
          </a:prstGeom>
          <a:ln w="1778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584448" y="1481328"/>
            <a:ext cx="25786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1618488"/>
            <a:ext cx="347472" cy="347472"/>
          </a:xfrm>
          <a:prstGeom prst="ellipse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1627632"/>
            <a:ext cx="3474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1376" y="1600200"/>
            <a:ext cx="1892807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1" i="0">
                <a:solidFill>
                  <a:srgbClr val="10223B"/>
                </a:solidFill>
                <a:latin typeface="Aptos"/>
              </a:defRPr>
            </a:pPr>
            <a:r>
              <a:t>Combos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066544"/>
            <a:ext cx="224942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Consumen unidades elegibles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81344" y="2148840"/>
            <a:ext cx="219456" cy="0"/>
          </a:xfrm>
          <a:prstGeom prst="line">
            <a:avLst/>
          </a:prstGeom>
          <a:ln w="1778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37375" y="1481328"/>
            <a:ext cx="25786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1" y="1618488"/>
            <a:ext cx="347472" cy="347472"/>
          </a:xfrm>
          <a:prstGeom prst="ellipse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1" y="1627632"/>
            <a:ext cx="3474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04303" y="1600200"/>
            <a:ext cx="1892807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1" i="0">
                <a:solidFill>
                  <a:srgbClr val="10223B"/>
                </a:solidFill>
                <a:latin typeface="Aptos"/>
              </a:defRPr>
            </a:pPr>
            <a:r>
              <a:t>Escalas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7" y="2066544"/>
            <a:ext cx="224942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Solo unidades no consumidas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034272" y="2148840"/>
            <a:ext cx="219456" cy="0"/>
          </a:xfrm>
          <a:prstGeom prst="line">
            <a:avLst/>
          </a:prstGeom>
          <a:ln w="1778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290304" y="1481328"/>
            <a:ext cx="25786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18320" y="1618488"/>
            <a:ext cx="347472" cy="347472"/>
          </a:xfrm>
          <a:prstGeom prst="ellipse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1627632"/>
            <a:ext cx="3474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57232" y="1600200"/>
            <a:ext cx="1892807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1" i="0">
                <a:solidFill>
                  <a:srgbClr val="10223B"/>
                </a:solidFill>
                <a:latin typeface="Aptos"/>
              </a:defRPr>
            </a:pPr>
            <a:r>
              <a:t>Neto por línea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54896" y="2066544"/>
            <a:ext cx="224942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Bruto − descuentos comerciales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3246120"/>
            <a:ext cx="25786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9536" y="3383279"/>
            <a:ext cx="347472" cy="347472"/>
          </a:xfrm>
          <a:prstGeom prst="ellipse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" y="3392423"/>
            <a:ext cx="3474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8448" y="3364991"/>
            <a:ext cx="1892807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1" i="0">
                <a:solidFill>
                  <a:srgbClr val="10223B"/>
                </a:solidFill>
                <a:latin typeface="Aptos"/>
              </a:defRPr>
            </a:pPr>
            <a:r>
              <a:t>Base gravable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3831335"/>
            <a:ext cx="224942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Después de descuentos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328416" y="3913631"/>
            <a:ext cx="219456" cy="0"/>
          </a:xfrm>
          <a:prstGeom prst="line">
            <a:avLst/>
          </a:prstGeom>
          <a:ln w="1778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584448" y="3246120"/>
            <a:ext cx="25786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712463" y="3383279"/>
            <a:ext cx="347472" cy="347472"/>
          </a:xfrm>
          <a:prstGeom prst="ellipse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12463" y="3392423"/>
            <a:ext cx="3474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51376" y="3364991"/>
            <a:ext cx="1892807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1" i="0">
                <a:solidFill>
                  <a:srgbClr val="10223B"/>
                </a:solidFill>
                <a:latin typeface="Aptos"/>
              </a:defRPr>
            </a:pPr>
            <a:r>
              <a:t>Impuesto por línea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49039" y="3831335"/>
            <a:ext cx="224942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Tasa SKU + redondeo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181344" y="3913631"/>
            <a:ext cx="219456" cy="0"/>
          </a:xfrm>
          <a:prstGeom prst="line">
            <a:avLst/>
          </a:prstGeom>
          <a:ln w="1778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437375" y="3246120"/>
            <a:ext cx="25786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565391" y="3383279"/>
            <a:ext cx="347472" cy="347472"/>
          </a:xfrm>
          <a:prstGeom prst="ellipse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65391" y="3392423"/>
            <a:ext cx="3474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04303" y="3364991"/>
            <a:ext cx="1892807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1" i="0">
                <a:solidFill>
                  <a:srgbClr val="10223B"/>
                </a:solidFill>
                <a:latin typeface="Aptos"/>
              </a:defRPr>
            </a:pPr>
            <a:r>
              <a:t>Total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01967" y="3831335"/>
            <a:ext cx="224942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Suma de netos + impuestos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034272" y="3913631"/>
            <a:ext cx="219456" cy="0"/>
          </a:xfrm>
          <a:prstGeom prst="line">
            <a:avLst/>
          </a:prstGeom>
          <a:ln w="1778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9290304" y="3246120"/>
            <a:ext cx="25786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418320" y="3383279"/>
            <a:ext cx="347472" cy="347472"/>
          </a:xfrm>
          <a:prstGeom prst="ellipse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18320" y="3392423"/>
            <a:ext cx="3474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57232" y="3364991"/>
            <a:ext cx="1892807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1" i="0">
                <a:solidFill>
                  <a:srgbClr val="10223B"/>
                </a:solidFill>
                <a:latin typeface="Aptos"/>
              </a:defRPr>
            </a:pPr>
            <a:r>
              <a:t>Crédito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54896" y="3831335"/>
            <a:ext cx="224942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Capa de aplicación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" y="5440680"/>
            <a:ext cx="10927080" cy="384048"/>
          </a:xfrm>
          <a:prstGeom prst="roundRect">
            <a:avLst/>
          </a:prstGeom>
          <a:solidFill>
            <a:srgbClr val="E2F4F2"/>
          </a:solidFill>
          <a:ln>
            <a:solidFill>
              <a:srgbClr val="E2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5528" y="5477256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10223B"/>
                </a:solidFill>
                <a:latin typeface="Aptos"/>
              </a:defRPr>
            </a:pPr>
            <a:r>
              <a:t>Crédito se valida con el total final, no con el bruto ni antes de impuestos.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Descuento por escala: ejemplo de la documentación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Los tramos son marginales: no se aplican todos los porcentajes a todas las unidades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resumen fiel de los documentos aportados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353312"/>
          <a:ext cx="10972800" cy="4956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2384"/>
                <a:gridCol w="4389120"/>
                <a:gridCol w="3511296"/>
              </a:tblGrid>
              <a:tr h="61950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Concepto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Operación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Resultado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Bruto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25 × 2.500 COP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62.500 COP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Tramo 10–19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10 × 2.500 × 5 %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1.250 COP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Tramo 20–25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6 × 2.500 × 10 %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1.500 COP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Descuento total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1.250 + 1.500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2.750 COP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Base neta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62.500 − 2.750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59.750 COP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Impuesto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59.750 × 19 %, HALF_UP escala 0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11.353 COP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Total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59.750 + 11.353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71.103 COP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5989320"/>
            <a:ext cx="10927080" cy="384048"/>
          </a:xfrm>
          <a:prstGeom prst="roundRect">
            <a:avLst/>
          </a:prstGeom>
          <a:solidFill>
            <a:srgbClr val="FAEBEB"/>
          </a:solidFill>
          <a:ln>
            <a:solidFill>
              <a:srgbClr val="FA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6025896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B44242"/>
                </a:solidFill>
                <a:latin typeface="Aptos"/>
              </a:defRPr>
            </a:pPr>
            <a:r>
              <a:t>Trampas: redondear por tramo, aplicar 10 % a las 25 unidades o contar como pagadas las unidades de combo/regalo.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Combos y obsequios: reglas delicadas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El desglose debe ser auditable y no duplicar el beneficio comercial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resumen fiel de los documentos aportados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63040"/>
            <a:ext cx="3493008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463040"/>
            <a:ext cx="82296" cy="406908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627632"/>
            <a:ext cx="310896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COMBOS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176272"/>
            <a:ext cx="3108960" cy="3227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• Se evalúan por ID; consumen las unidades restantes.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• Las unidades consumidas no reciben escala.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• Si precio combo ≥ valor de lista, no aplica.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• El descuento se registra con origen `COMBO:&lt;id&gt;`.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463040"/>
            <a:ext cx="3493008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2544" y="1463040"/>
            <a:ext cx="82296" cy="4069080"/>
          </a:xfrm>
          <a:prstGeom prst="rect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627632"/>
            <a:ext cx="310896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REPARTO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176272"/>
            <a:ext cx="3108960" cy="3227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• El descuento global se distribuye entre líneas.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• El método del resto mayor conserva la suma exacta.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• `comboAllocations` apoya base gravable; no debe duplicar el descuento visible.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463040"/>
            <a:ext cx="3493008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463040"/>
            <a:ext cx="82296" cy="4069080"/>
          </a:xfrm>
          <a:prstGeom prst="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627632"/>
            <a:ext cx="310896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OBSEQUIOS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176272"/>
            <a:ext cx="3108960" cy="3227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• Mostrar SKU y cantidad.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• Precio del producto regalado: cero.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• La base tributaria depende de la política de país.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• No contar el regalo para disparar su propia regla.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Dinero exacto y política multi-país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Money + BigDecimal; moneda, escala, tasas y redondeo pertenecen a la política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resumen fiel de los documentos aportados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417320"/>
            <a:ext cx="4892040" cy="1143000"/>
          </a:xfrm>
          <a:prstGeom prst="roundRect">
            <a:avLst/>
          </a:prstGeom>
          <a:solidFill>
            <a:srgbClr val="E2F4F2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627632"/>
            <a:ext cx="4480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700" b="1" i="0">
                <a:solidFill>
                  <a:srgbClr val="10223B"/>
                </a:solidFill>
                <a:latin typeface="Aptos"/>
              </a:defRPr>
            </a:pPr>
            <a:r>
              <a:t>Money = BigDecimal + CurrencyPolicy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048256"/>
            <a:ext cx="4389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050" b="0" i="0">
                <a:solidFill>
                  <a:srgbClr val="008E91"/>
                </a:solidFill>
                <a:latin typeface="Aptos"/>
              </a:defRPr>
            </a:pPr>
            <a:r>
              <a:t>Inmutable · no mezclar monedas · sin float/double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0" y="2834640"/>
            <a:ext cx="365760" cy="365760"/>
          </a:xfrm>
          <a:prstGeom prst="ellipse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843784"/>
            <a:ext cx="365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RP-1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848356"/>
            <a:ext cx="21031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1" i="0">
                <a:solidFill>
                  <a:srgbClr val="10223B"/>
                </a:solidFill>
                <a:latin typeface="Aptos"/>
              </a:defRPr>
            </a:pPr>
            <a:r>
              <a:t>Precio × cantidad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848356"/>
            <a:ext cx="24688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Exacto</a:t>
            </a:r>
          </a:p>
        </p:txBody>
      </p:sp>
      <p:sp>
        <p:nvSpPr>
          <p:cNvPr id="16" name="Oval 15"/>
          <p:cNvSpPr/>
          <p:nvPr/>
        </p:nvSpPr>
        <p:spPr>
          <a:xfrm>
            <a:off x="6126480" y="3419856"/>
            <a:ext cx="365760" cy="365760"/>
          </a:xfrm>
          <a:prstGeom prst="ellipse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3429000"/>
            <a:ext cx="365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RP-2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3433572"/>
            <a:ext cx="21031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1" i="0">
                <a:solidFill>
                  <a:srgbClr val="10223B"/>
                </a:solidFill>
                <a:latin typeface="Aptos"/>
              </a:defRPr>
            </a:pPr>
            <a:r>
              <a:t>Descuento de línea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433572"/>
            <a:ext cx="24688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Escala país / HALF_UP</a:t>
            </a:r>
          </a:p>
        </p:txBody>
      </p:sp>
      <p:sp>
        <p:nvSpPr>
          <p:cNvPr id="20" name="Oval 19"/>
          <p:cNvSpPr/>
          <p:nvPr/>
        </p:nvSpPr>
        <p:spPr>
          <a:xfrm>
            <a:off x="6126480" y="4005072"/>
            <a:ext cx="365760" cy="365760"/>
          </a:xfrm>
          <a:prstGeom prst="ellipse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4014215"/>
            <a:ext cx="365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RP-3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4018787"/>
            <a:ext cx="21031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1" i="0">
                <a:solidFill>
                  <a:srgbClr val="10223B"/>
                </a:solidFill>
                <a:latin typeface="Aptos"/>
              </a:defRPr>
            </a:pPr>
            <a:r>
              <a:t>Neto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018787"/>
            <a:ext cx="24688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Bruto − descuentos</a:t>
            </a:r>
          </a:p>
        </p:txBody>
      </p:sp>
      <p:sp>
        <p:nvSpPr>
          <p:cNvPr id="24" name="Oval 23"/>
          <p:cNvSpPr/>
          <p:nvPr/>
        </p:nvSpPr>
        <p:spPr>
          <a:xfrm>
            <a:off x="6126480" y="4590288"/>
            <a:ext cx="365760" cy="365760"/>
          </a:xfrm>
          <a:prstGeom prst="ellipse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4599431"/>
            <a:ext cx="365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RP-4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4604003"/>
            <a:ext cx="21031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1" i="0">
                <a:solidFill>
                  <a:srgbClr val="10223B"/>
                </a:solidFill>
                <a:latin typeface="Aptos"/>
              </a:defRPr>
            </a:pPr>
            <a:r>
              <a:t>Impuesto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604003"/>
            <a:ext cx="24688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Por línea / HALF_UP</a:t>
            </a:r>
          </a:p>
        </p:txBody>
      </p:sp>
      <p:sp>
        <p:nvSpPr>
          <p:cNvPr id="28" name="Oval 27"/>
          <p:cNvSpPr/>
          <p:nvPr/>
        </p:nvSpPr>
        <p:spPr>
          <a:xfrm>
            <a:off x="6126480" y="5175504"/>
            <a:ext cx="365760" cy="365760"/>
          </a:xfrm>
          <a:prstGeom prst="ellipse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5184648"/>
            <a:ext cx="365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RP-5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1968" y="5189220"/>
            <a:ext cx="21031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1" i="0">
                <a:solidFill>
                  <a:srgbClr val="10223B"/>
                </a:solidFill>
                <a:latin typeface="Aptos"/>
              </a:defRPr>
            </a:pPr>
            <a:r>
              <a:t>Total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5189220"/>
            <a:ext cx="24688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Sumar sin redondear de nuevo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897880"/>
            <a:ext cx="10927080" cy="384048"/>
          </a:xfrm>
          <a:prstGeom prst="roundRect">
            <a:avLst/>
          </a:prstGeom>
          <a:solidFill>
            <a:srgbClr val="FAEBEB"/>
          </a:solidFill>
          <a:ln>
            <a:solidFill>
              <a:srgbClr val="FA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5934456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B44242"/>
                </a:solidFill>
                <a:latin typeface="Aptos"/>
              </a:defRPr>
            </a:pPr>
            <a:r>
              <a:t>Trampas: float/double, escala de 2 decimales fija, tasas hardcodeadas o redondear otra vez el total.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Cotización sellada · Invariante G-1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El pedido referencia la cotización; no recopia sus importes y no recalcula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resumen fiel de los documentos aportados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28346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91640"/>
            <a:ext cx="82296" cy="228600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56232"/>
            <a:ext cx="245059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1 · COTIZAR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404872"/>
            <a:ext cx="2450592" cy="1444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El motor calcula y persiste: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`quotes`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`quote_lines`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`quote_line_adjustments`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11880" y="2834640"/>
            <a:ext cx="576072" cy="0"/>
          </a:xfrm>
          <a:prstGeom prst="line">
            <a:avLst/>
          </a:prstGeom>
          <a:ln w="2540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51960" y="1691640"/>
            <a:ext cx="28346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691640"/>
            <a:ext cx="82296" cy="2286000"/>
          </a:xfrm>
          <a:prstGeom prst="rect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1856232"/>
            <a:ext cx="245059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2 · SELLAR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404872"/>
            <a:ext cx="2450592" cy="1444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La cotización es insert-only durante la vigencia. El TTL documentado es de 15 minutos.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32320" y="2834640"/>
            <a:ext cx="566928" cy="0"/>
          </a:xfrm>
          <a:prstGeom prst="line">
            <a:avLst/>
          </a:prstGeom>
          <a:ln w="2540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1691640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0" y="1691640"/>
            <a:ext cx="82296" cy="2286000"/>
          </a:xfrm>
          <a:prstGeom prst="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1856232"/>
            <a:ext cx="304495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3 · CONFIRMAR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8" y="2404872"/>
            <a:ext cx="3044952" cy="1444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La orden guarda `quote_id`. Los importes se leen de la cotización original.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663440"/>
            <a:ext cx="10927080" cy="384048"/>
          </a:xfrm>
          <a:prstGeom prst="roundRect">
            <a:avLst/>
          </a:prstGeom>
          <a:solidFill>
            <a:srgbClr val="FCF5E2"/>
          </a:solidFill>
          <a:ln>
            <a:solidFill>
              <a:srgbClr val="FCF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4700016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10223B"/>
                </a:solidFill>
                <a:latin typeface="Aptos"/>
              </a:defRPr>
            </a:pPr>
            <a:r>
              <a:t>Trade-off: un precio erróneo queda respetado hasta expirar; el ADR menciona revocación como riesgo/mitigación, no como capacidad implementada.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Confirmación ACID y HTTP 201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La garantía central es: si devolvemos 201, el pedido ya está persistido y consultable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resumen fiel de los documentos aportados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72768"/>
            <a:ext cx="26060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572768"/>
            <a:ext cx="82296" cy="242316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737360"/>
            <a:ext cx="222199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ATOMICIDAD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286000"/>
            <a:ext cx="2221992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Pedido + crédito + idempotencia + outbox confirman o revierten juntos.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572768"/>
            <a:ext cx="26060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1572768"/>
            <a:ext cx="82296" cy="2423160"/>
          </a:xfrm>
          <a:prstGeom prst="rect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7328" y="1737360"/>
            <a:ext cx="222199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CONSISTENCIA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2286000"/>
            <a:ext cx="2221992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Constraints y reglas mantienen invariantes del dominio.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1572768"/>
            <a:ext cx="26060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46520" y="1572768"/>
            <a:ext cx="82296" cy="2423160"/>
          </a:xfrm>
          <a:prstGeom prst="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1737360"/>
            <a:ext cx="222199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AISLAMIENTO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2286000"/>
            <a:ext cx="2221992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READ COMMITTED con bloqueos de fila explícitos.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1572768"/>
            <a:ext cx="26060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26880" y="1572768"/>
            <a:ext cx="82296" cy="2423160"/>
          </a:xfrm>
          <a:prstGeom prst="rect">
            <a:avLst/>
          </a:prstGeom>
          <a:solidFill>
            <a:srgbClr val="2C895E"/>
          </a:solidFill>
          <a:ln>
            <a:solidFill>
              <a:srgbClr val="2C8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8048" y="1737360"/>
            <a:ext cx="222199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DURABILIDAD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2286000"/>
            <a:ext cx="2221992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COMMIT antes de responder; consulta inmediata desde historial.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434840"/>
            <a:ext cx="104698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10223B"/>
                </a:solidFill>
                <a:latin typeface="Aptos"/>
              </a:defRPr>
            </a:pPr>
            <a:r>
              <a:t>Orden de bloqueo documentado: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010912"/>
            <a:ext cx="2971800" cy="658368"/>
          </a:xfrm>
          <a:prstGeom prst="round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166360"/>
            <a:ext cx="2788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1 · Idempotency key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922776" y="5340096"/>
            <a:ext cx="484632" cy="0"/>
          </a:xfrm>
          <a:prstGeom prst="line">
            <a:avLst/>
          </a:prstGeom>
          <a:ln w="2540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480560" y="5010912"/>
            <a:ext cx="2971800" cy="658368"/>
          </a:xfrm>
          <a:prstGeom prst="roundRect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5166360"/>
            <a:ext cx="2788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2 · Quote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88936" y="5340096"/>
            <a:ext cx="484632" cy="0"/>
          </a:xfrm>
          <a:prstGeom prst="line">
            <a:avLst/>
          </a:prstGeom>
          <a:ln w="2540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046720" y="5010912"/>
            <a:ext cx="2971800" cy="658368"/>
          </a:xfrm>
          <a:prstGeom prst="round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5166360"/>
            <a:ext cx="2788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3 · Credit account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Idempotencia: qué ocurre con un reintento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La clave representa una intención de confirmar; el hash evita reutilización ambigua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resumen fiel de los documentos aportados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353312"/>
          <a:ext cx="10972800" cy="4956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9664"/>
                <a:gridCol w="6803136"/>
              </a:tblGrid>
              <a:tr h="991209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Petición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Comportamiento documentado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</a:tr>
              <a:tr h="991209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Misma clave + mismo hash, ya completado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Reproducir la respuesta guardada; `Idempotent-Replayed: true`.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991209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Misma clave + cuerpo diferente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422 · `IDEMPOTENCY_KEY_REUSED`.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991209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Misma clave aún en proceso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Esperar el lock hasta el límite; luego 409 · `IDEMPOTENCY_KEY_IN_PROGRESS`.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99121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Fallo funcional antes del commit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No guardar el fallo como éxito; corregir y reintentar según el contrato.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5760720"/>
            <a:ext cx="10927080" cy="384048"/>
          </a:xfrm>
          <a:prstGeom prst="roundRect">
            <a:avLst/>
          </a:prstGeom>
          <a:solidFill>
            <a:srgbClr val="E2F4F2"/>
          </a:solidFill>
          <a:ln>
            <a:solidFill>
              <a:srgbClr val="E2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5797296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10223B"/>
                </a:solidFill>
                <a:latin typeface="Aptos"/>
              </a:defRPr>
            </a:pPr>
            <a:r>
              <a:t>El cliente web debe conservar la misma clave al reintentar y usar una nueva para una intención nueva.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Crédito y concurrencia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Evitar la carrera en la que dos pedidos leen el mismo saldo y ambos lo consumen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resumen fiel de los documentos aportados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417320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417320"/>
            <a:ext cx="82296" cy="109728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581912"/>
            <a:ext cx="235915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0223B"/>
                </a:solidFill>
                <a:latin typeface="Aptos"/>
              </a:defRPr>
            </a:pPr>
            <a:r>
              <a:t>PEDIDO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130552"/>
            <a:ext cx="2359152" cy="2560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Solicita confirmar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26080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926080"/>
            <a:ext cx="82296" cy="1097280"/>
          </a:xfrm>
          <a:prstGeom prst="rect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090672"/>
            <a:ext cx="235915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0223B"/>
                </a:solidFill>
                <a:latin typeface="Aptos"/>
              </a:defRPr>
            </a:pPr>
            <a:r>
              <a:t>PEDIDO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639312"/>
            <a:ext cx="2359152" cy="2560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Solicita confirmar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214884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2148840"/>
            <a:ext cx="82296" cy="1280160"/>
          </a:xfrm>
          <a:prstGeom prst="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3128" y="2313432"/>
            <a:ext cx="235915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1" i="0">
                <a:solidFill>
                  <a:srgbClr val="10223B"/>
                </a:solidFill>
                <a:latin typeface="Aptos"/>
              </a:defRPr>
            </a:pPr>
            <a:r>
              <a:t>LOCK CUENTA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2862072"/>
            <a:ext cx="2359152" cy="43891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23140"/>
                </a:solidFill>
                <a:latin typeface="Aptos"/>
              </a:defRPr>
            </a:pPr>
            <a:r>
              <a:t>FOR UPDATE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223140"/>
                </a:solidFill>
                <a:latin typeface="Aptos"/>
              </a:defRPr>
            </a:pPr>
            <a:r>
              <a:t>un escritor por vez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2148840"/>
            <a:ext cx="31546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2148840"/>
            <a:ext cx="82296" cy="1280160"/>
          </a:xfrm>
          <a:prstGeom prst="rect">
            <a:avLst/>
          </a:prstGeom>
          <a:solidFill>
            <a:srgbClr val="2C895E"/>
          </a:solidFill>
          <a:ln>
            <a:solidFill>
              <a:srgbClr val="2C8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73568" y="2313432"/>
            <a:ext cx="277063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1" i="0">
                <a:solidFill>
                  <a:srgbClr val="10223B"/>
                </a:solidFill>
                <a:latin typeface="Aptos"/>
              </a:defRPr>
            </a:pPr>
            <a:r>
              <a:t>VALIDAR Y CONSUMIR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3568" y="2862072"/>
            <a:ext cx="2770632" cy="43891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23140"/>
                </a:solidFill>
                <a:latin typeface="Aptos"/>
              </a:defRPr>
            </a:pPr>
            <a:r>
              <a:t>Comprobar saldo dentro de la transacción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11880" y="1965960"/>
            <a:ext cx="594360" cy="502920"/>
          </a:xfrm>
          <a:prstGeom prst="line">
            <a:avLst/>
          </a:prstGeom>
          <a:ln w="2286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611880" y="3108960"/>
            <a:ext cx="594360" cy="365760"/>
          </a:xfrm>
          <a:prstGeom prst="line">
            <a:avLst/>
          </a:prstGeom>
          <a:ln w="22860">
            <a:solidFill>
              <a:srgbClr val="346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040880" y="2788920"/>
            <a:ext cx="685799" cy="0"/>
          </a:xfrm>
          <a:prstGeom prst="line">
            <a:avLst/>
          </a:prstGeom>
          <a:ln w="22860">
            <a:solidFill>
              <a:srgbClr val="E8B0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40080" y="4892040"/>
            <a:ext cx="10927080" cy="384048"/>
          </a:xfrm>
          <a:prstGeom prst="roundRect">
            <a:avLst/>
          </a:prstGeom>
          <a:solidFill>
            <a:srgbClr val="FAEBEB"/>
          </a:solidFill>
          <a:ln>
            <a:solidFill>
              <a:srgbClr val="FA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" y="4928616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B44242"/>
                </a:solidFill>
                <a:latin typeface="Aptos"/>
              </a:defRPr>
            </a:pPr>
            <a:r>
              <a:t>Caso de prueba clave: dos confirmaciones concurrentes que juntas superan el cupo no pueden ser ambas aceptadas.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Transactional Outbox: flujo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El registro del evento es local/atómico; la entrega ocurre fuera de la transacción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resumen fiel de los documentos aportados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9" name="Oval 8"/>
          <p:cNvSpPr/>
          <p:nvPr/>
        </p:nvSpPr>
        <p:spPr>
          <a:xfrm>
            <a:off x="1417319" y="1737360"/>
            <a:ext cx="411480" cy="411480"/>
          </a:xfrm>
          <a:prstGeom prst="ellipse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1746504"/>
            <a:ext cx="411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59152"/>
            <a:ext cx="1965960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359152"/>
            <a:ext cx="82296" cy="2029968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23744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0223B"/>
                </a:solidFill>
                <a:latin typeface="Aptos"/>
              </a:defRPr>
            </a:pPr>
            <a:r>
              <a:t>CONFIRMACIÓN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072384"/>
            <a:ext cx="1581912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23140"/>
                </a:solidFill>
                <a:latin typeface="Aptos"/>
              </a:defRPr>
            </a:pPr>
            <a:r>
              <a:t>Pedido + crédito + clave + outbox en el mismo commit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24328" y="3310128"/>
            <a:ext cx="265176" cy="0"/>
          </a:xfrm>
          <a:prstGeom prst="line">
            <a:avLst/>
          </a:prstGeom>
          <a:ln w="2159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703320" y="1737360"/>
            <a:ext cx="411480" cy="411480"/>
          </a:xfrm>
          <a:prstGeom prst="ellipse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1746504"/>
            <a:ext cx="411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2359152"/>
            <a:ext cx="1965960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26080" y="2359152"/>
            <a:ext cx="82296" cy="2029968"/>
          </a:xfrm>
          <a:prstGeom prst="rect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27248" y="2523744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0223B"/>
                </a:solidFill>
                <a:latin typeface="Aptos"/>
              </a:defRPr>
            </a:pPr>
            <a:r>
              <a:t>RECLAMAR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27248" y="3072384"/>
            <a:ext cx="1581912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23140"/>
                </a:solidFill>
                <a:latin typeface="Aptos"/>
              </a:defRPr>
            </a:pPr>
            <a:r>
              <a:t>Relay obtiene lease / SKIP LOCKED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10328" y="3310128"/>
            <a:ext cx="265176" cy="0"/>
          </a:xfrm>
          <a:prstGeom prst="line">
            <a:avLst/>
          </a:prstGeom>
          <a:ln w="2159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989320" y="1737360"/>
            <a:ext cx="411480" cy="411480"/>
          </a:xfrm>
          <a:prstGeom prst="ellipse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1746504"/>
            <a:ext cx="411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2080" y="2359152"/>
            <a:ext cx="1965960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12080" y="2359152"/>
            <a:ext cx="82296" cy="2029968"/>
          </a:xfrm>
          <a:prstGeom prst="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13248" y="2523744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0223B"/>
                </a:solidFill>
                <a:latin typeface="Aptos"/>
              </a:defRPr>
            </a:pPr>
            <a:r>
              <a:t>ENVIAR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13248" y="3072384"/>
            <a:ext cx="1581912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23140"/>
                </a:solidFill>
                <a:latin typeface="Aptos"/>
              </a:defRPr>
            </a:pPr>
            <a:r>
              <a:t>Llamada remota fuera de transacción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96328" y="3310128"/>
            <a:ext cx="265176" cy="0"/>
          </a:xfrm>
          <a:prstGeom prst="line">
            <a:avLst/>
          </a:prstGeom>
          <a:ln w="2159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275319" y="1737360"/>
            <a:ext cx="411480" cy="411480"/>
          </a:xfrm>
          <a:prstGeom prst="ellipse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19" y="1746504"/>
            <a:ext cx="411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79" y="2359152"/>
            <a:ext cx="1965960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79" y="2359152"/>
            <a:ext cx="82296" cy="2029968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99248" y="2523744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0223B"/>
                </a:solidFill>
                <a:latin typeface="Aptos"/>
              </a:defRPr>
            </a:pPr>
            <a:r>
              <a:t>MARCAR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99248" y="3072384"/>
            <a:ext cx="1581912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23140"/>
                </a:solidFill>
                <a:latin typeface="Aptos"/>
              </a:defRPr>
            </a:pPr>
            <a:r>
              <a:t>SENT o reintento / estado terminal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482328" y="3310128"/>
            <a:ext cx="265176" cy="0"/>
          </a:xfrm>
          <a:prstGeom prst="line">
            <a:avLst/>
          </a:prstGeom>
          <a:ln w="2159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0561319" y="1737360"/>
            <a:ext cx="411480" cy="411480"/>
          </a:xfrm>
          <a:prstGeom prst="ellipse">
            <a:avLst/>
          </a:prstGeom>
          <a:solidFill>
            <a:srgbClr val="2C895E"/>
          </a:solidFill>
          <a:ln>
            <a:solidFill>
              <a:srgbClr val="2C8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61319" y="1746504"/>
            <a:ext cx="411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84080" y="2359152"/>
            <a:ext cx="1965960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784080" y="2359152"/>
            <a:ext cx="82296" cy="2029968"/>
          </a:xfrm>
          <a:prstGeom prst="rect">
            <a:avLst/>
          </a:prstGeom>
          <a:solidFill>
            <a:srgbClr val="2C895E"/>
          </a:solidFill>
          <a:ln>
            <a:solidFill>
              <a:srgbClr val="2C8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85248" y="2523744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0223B"/>
                </a:solidFill>
                <a:latin typeface="Aptos"/>
              </a:defRPr>
            </a:pPr>
            <a:r>
              <a:t>DEDUPLICAR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85248" y="3072384"/>
            <a:ext cx="1581912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23140"/>
                </a:solidFill>
                <a:latin typeface="Aptos"/>
              </a:defRPr>
            </a:pPr>
            <a:r>
              <a:t>Receptor usa event_id / order_number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5074920"/>
            <a:ext cx="10927080" cy="384048"/>
          </a:xfrm>
          <a:prstGeom prst="roundRect">
            <a:avLst/>
          </a:prstGeom>
          <a:solidFill>
            <a:srgbClr val="FCF5E2"/>
          </a:solidFill>
          <a:ln>
            <a:solidFill>
              <a:srgbClr val="FCF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8" y="5111496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10223B"/>
                </a:solidFill>
                <a:latin typeface="Aptos"/>
              </a:defRPr>
            </a:pPr>
            <a:r>
              <a:t>El Outbox protege contra pérdida de la intención. Su entrega es al menos una vez, no exactamente una vez.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Outbox: fallos y recuperación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La deduplicación del receptor resuelve el reenvío inevitable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resumen fiel de los documentos aportados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18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353312"/>
          <a:ext cx="10972799" cy="4956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8576"/>
                <a:gridCol w="6364223"/>
              </a:tblGrid>
              <a:tr h="708006">
                <a:tc>
                  <a:txBody>
                    <a:bodyPr/>
                    <a:lstStyle/>
                    <a:p>
                      <a:pPr>
                        <a:defRPr sz="12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Punto de fallo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Resultado correcto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2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API falla antes del commit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2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No quedan pedido/evento confirmados.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2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Commit, pero la API cae antes de responder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2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El reintento con la misma clave recupera la respuesta persistida.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2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Push/ERP está indisponible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2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El evento permanece pendiente y se reintenta.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2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Relay envía y cae antes de marcar SENT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2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Puede reenviar; el receptor deduplica por `event_id`.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2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Lease expira y worker viejo reaparece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2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No puede sobrescribir el estado del nuevo propietario del lease.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70801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2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Se agotan los reintentos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2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Estado terminal/dead permite observación y gestión operativa.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Multi-tenancy: tienda ≠ tenant ≠ carrito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“Tienda” en la interfaz corresponde al tendero/cliente B2B dentro de un tenant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resumen fiel de los documentos aportados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34290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82296" cy="256032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581912"/>
            <a:ext cx="304495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TENANT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30552"/>
            <a:ext cx="3044952" cy="1719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País / marca; contiene catálogo, tasas, moneda y políticas.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Ejemplos documentados: `co-alpha`, `ec-alpha`, `gt-alpha`, `pe-alpha`.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17320"/>
            <a:ext cx="34290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417320"/>
            <a:ext cx="82296" cy="2560320"/>
          </a:xfrm>
          <a:prstGeom prst="rect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581912"/>
            <a:ext cx="304495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130552"/>
            <a:ext cx="3044952" cy="1719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Tendero asociado a un tenant.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El ID debe existir dentro del tenant indicado en la petición.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417320"/>
            <a:ext cx="34290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417320"/>
            <a:ext cx="82296" cy="2560320"/>
          </a:xfrm>
          <a:prstGeom prst="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581912"/>
            <a:ext cx="304495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CARRITO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130552"/>
            <a:ext cx="3044952" cy="1719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Estado temporal del navegador separado por identificador de tienda.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Cambiar de tienda puede mostrar un carrito vacío.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17720"/>
            <a:ext cx="10927080" cy="384048"/>
          </a:xfrm>
          <a:prstGeom prst="roundRect">
            <a:avLst/>
          </a:prstGeom>
          <a:solidFill>
            <a:srgbClr val="FCF5E2"/>
          </a:solidFill>
          <a:ln>
            <a:solidFill>
              <a:srgbClr val="FCF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4654296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10223B"/>
                </a:solidFill>
                <a:latin typeface="Aptos"/>
              </a:defRPr>
            </a:pPr>
            <a:r>
              <a:t>Las cabeceras X-Tenant-Id y X-Customer-Id son contexto de petición, no un sustituto de autenticación real.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Si el catálogo aparece vacío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Diagnosticar datos y contexto antes de modificar las protecciones multi-tenant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resumen fiel de los documentos aportados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20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353312"/>
          <a:ext cx="10972800" cy="4956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0752"/>
                <a:gridCol w="7242048"/>
              </a:tblGrid>
              <a:tr h="826008">
                <a:tc>
                  <a:txBody>
                    <a:bodyPr/>
                    <a:lstStyle/>
                    <a:p>
                      <a:pPr>
                        <a:defRPr sz="12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Señal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Comprobación inicial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</a:tr>
              <a:tr h="82600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1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400 `TENANT_NOT_FOUND`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1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Revisar `X-Tenant-Id`, tenant de BD y migraciones.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82600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1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404 `CUSTOMER_NOT_FOUND`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1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Comparar el UUID de `X-Customer-Id`, `stores.json` y `customers` para ese tenant.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82600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1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200 con `items: []`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1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Verificar productos semilla y filtro del tenant.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82600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1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Catálogo con productos, carrito en cero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1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Comportamiento posible si LocalStorage separa carritos por tienda.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82600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1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API devuelve productos, UI vacía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1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Inspeccionar respuesta JSON, consola y renderizado Angular.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5806440"/>
            <a:ext cx="10927080" cy="384048"/>
          </a:xfrm>
          <a:prstGeom prst="roundRect">
            <a:avLst/>
          </a:prstGeom>
          <a:solidFill>
            <a:srgbClr val="E2F4F2"/>
          </a:solidFill>
          <a:ln>
            <a:solidFill>
              <a:srgbClr val="E2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5843016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10223B"/>
                </a:solidFill>
                <a:latin typeface="Aptos"/>
              </a:defRPr>
            </a:pPr>
            <a:r>
              <a:t>T-19 actualiza nombres/configuración de tiendas; T-20 agrega Guatemala y Perú. Revisar migraciones y seeds del entorno real.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API REST: endpoints para seguir el flujo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Contrato común bajo `/api/v1` y errores estructurados con RFC 9457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resumen fiel de los documentos aportados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21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353312"/>
          <a:ext cx="10972798" cy="4956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79"/>
                <a:gridCol w="3072384"/>
                <a:gridCol w="4059935"/>
              </a:tblGrid>
              <a:tr h="708006">
                <a:tc>
                  <a:txBody>
                    <a:bodyPr/>
                    <a:lstStyle/>
                    <a:p>
                      <a:pPr>
                        <a:defRPr sz="10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Endpoint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Función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Detalle que defender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POST /quotes (E-01)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Crear cotización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Devuelve desglose, moneda, crédito y vencimiento.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GET /quotes/{quoteId} (E-02)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Leer cotización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Estado OPEN / CONFIRMED / EXPIRED.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POST /orders (E-03)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Confirmar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Idempotency-Key; 201 tras commit.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GET /orders/{orderId} (E-04)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Consultar pedido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Importes asociados a la cotización.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GET /orders?customerId=… (E-05)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Historial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Pedidos del tendero; respetar tenant.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70801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GET /actuator/health / GET /products (E-06/E-07)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Salud y catálogo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E-07 requiere cabeceras tenant y customer.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Frontend Angular: prevenir defectos a nivel de componente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El requisito opcional remarca tres riesgos visuales concretos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resumen fiel de los documentos aportados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22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353312"/>
          <a:ext cx="10972799" cy="4956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2656"/>
                <a:gridCol w="4718304"/>
                <a:gridCol w="3291839"/>
              </a:tblGrid>
              <a:tr h="1239012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Defecto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Prevención de componente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Validación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</a:tr>
              <a:tr h="123901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8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Texto cortado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8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`overflow-wrap: anywhere`; `min-width: 0`; no truncar de forma accidental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8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Probar nombres largos en 768 px y 375 px.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123901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8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Control oculto por teclado/barra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8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`env(safe-area-inset-*)`, `100dvh`, scroll y foco visible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8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Abrir teclado y alcanzar el último control.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123901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8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Imágenes desiguales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8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Componente `ui-product-image`, `aspect-ratio` y `object-fit` compartidos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8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Grid con fotos panorámicas, cuadradas y verticales.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5715000"/>
            <a:ext cx="10927080" cy="384048"/>
          </a:xfrm>
          <a:prstGeom prst="roundRect">
            <a:avLst/>
          </a:prstGeom>
          <a:solidFill>
            <a:srgbClr val="FCF5E2"/>
          </a:solidFill>
          <a:ln>
            <a:solidFill>
              <a:srgbClr val="FCF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5751576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10223B"/>
                </a:solidFill>
                <a:latin typeface="Aptos"/>
              </a:defRPr>
            </a:pPr>
            <a:r>
              <a:t>Las medidas de layout deben probarse en Chromium/Playwright; JSDOM no calcula layout real.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Los seis Golden Tests del enunciado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Mínimo de aceptación para demostrar las reglas principales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resumen fiel de los documentos aportados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146304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" y="1463040"/>
            <a:ext cx="82296" cy="160020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627632"/>
            <a:ext cx="309067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40" b="1" i="0">
                <a:solidFill>
                  <a:srgbClr val="10223B"/>
                </a:solidFill>
                <a:latin typeface="Aptos"/>
              </a:defRPr>
            </a:pPr>
            <a:r>
              <a:t>GT-01 · Descuento en dos tramos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176272"/>
            <a:ext cx="3090672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70" b="0" i="0">
                <a:solidFill>
                  <a:srgbClr val="223140"/>
                </a:solidFill>
                <a:latin typeface="Aptos"/>
              </a:defRPr>
            </a:pPr>
            <a:r>
              <a:t>Cálculo marginal + redondeo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3983" y="146304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43983" y="1463040"/>
            <a:ext cx="82296" cy="1600200"/>
          </a:xfrm>
          <a:prstGeom prst="rect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1" y="1627632"/>
            <a:ext cx="309067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40" b="1" i="0">
                <a:solidFill>
                  <a:srgbClr val="10223B"/>
                </a:solidFill>
                <a:latin typeface="Aptos"/>
              </a:defRPr>
            </a:pPr>
            <a:r>
              <a:t>GT-02 · Combo sin descuentos sueltos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1" y="2176272"/>
            <a:ext cx="3090672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70" b="0" i="0">
                <a:solidFill>
                  <a:srgbClr val="223140"/>
                </a:solidFill>
                <a:latin typeface="Aptos"/>
              </a:defRPr>
            </a:pPr>
            <a:r>
              <a:t>No hay double dipping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3" y="146304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3" y="1463040"/>
            <a:ext cx="82296" cy="1600200"/>
          </a:xfrm>
          <a:prstGeom prst="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27632"/>
            <a:ext cx="309067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40" b="1" i="0">
                <a:solidFill>
                  <a:srgbClr val="10223B"/>
                </a:solidFill>
                <a:latin typeface="Aptos"/>
              </a:defRPr>
            </a:pPr>
            <a:r>
              <a:t>GT-03 · Obsequio con cantidad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176272"/>
            <a:ext cx="3090672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70" b="0" i="0">
                <a:solidFill>
                  <a:srgbClr val="223140"/>
                </a:solidFill>
                <a:latin typeface="Aptos"/>
              </a:defRPr>
            </a:pPr>
            <a:r>
              <a:t>Desglose auditable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" y="352044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4944" y="3520440"/>
            <a:ext cx="82296" cy="1600200"/>
          </a:xfrm>
          <a:prstGeom prst="rect">
            <a:avLst/>
          </a:prstGeom>
          <a:solidFill>
            <a:srgbClr val="2C895E"/>
          </a:solidFill>
          <a:ln>
            <a:solidFill>
              <a:srgbClr val="2C8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685032"/>
            <a:ext cx="309067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40" b="1" i="0">
                <a:solidFill>
                  <a:srgbClr val="10223B"/>
                </a:solidFill>
                <a:latin typeface="Aptos"/>
              </a:defRPr>
            </a:pPr>
            <a:r>
              <a:t>GT-04 · Combo con impuestos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233672"/>
            <a:ext cx="3090672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70" b="0" i="0">
                <a:solidFill>
                  <a:srgbClr val="223140"/>
                </a:solidFill>
                <a:latin typeface="Aptos"/>
              </a:defRPr>
            </a:pPr>
            <a:r>
              <a:t>Impuesto entra en el total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43983" y="352044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43983" y="3520440"/>
            <a:ext cx="82296" cy="1600200"/>
          </a:xfrm>
          <a:prstGeom prst="rect">
            <a:avLst/>
          </a:prstGeom>
          <a:solidFill>
            <a:srgbClr val="B44242"/>
          </a:solidFill>
          <a:ln>
            <a:solidFill>
              <a:srgbClr val="B4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5151" y="3685032"/>
            <a:ext cx="309067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40" b="1" i="0">
                <a:solidFill>
                  <a:srgbClr val="10223B"/>
                </a:solidFill>
                <a:latin typeface="Aptos"/>
              </a:defRPr>
            </a:pPr>
            <a:r>
              <a:t>GT-05 · Crédito excedido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1" y="4233672"/>
            <a:ext cx="3090672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70" b="0" i="0">
                <a:solidFill>
                  <a:srgbClr val="223140"/>
                </a:solidFill>
                <a:latin typeface="Aptos"/>
              </a:defRPr>
            </a:pPr>
            <a:r>
              <a:t>Rechazo sin consumo parcial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93023" y="352044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93023" y="3520440"/>
            <a:ext cx="82296" cy="160020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3685032"/>
            <a:ext cx="309067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40" b="1" i="0">
                <a:solidFill>
                  <a:srgbClr val="10223B"/>
                </a:solidFill>
                <a:latin typeface="Aptos"/>
              </a:defRPr>
            </a:pPr>
            <a:r>
              <a:t>GT-06 · Cotizar / cambiar precio / confirmar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233672"/>
            <a:ext cx="3090672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70" b="0" i="0">
                <a:solidFill>
                  <a:srgbClr val="223140"/>
                </a:solidFill>
                <a:latin typeface="Aptos"/>
              </a:defRPr>
            </a:pPr>
            <a:r>
              <a:t>Total idéntico al cotizado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833872"/>
            <a:ext cx="10927080" cy="384048"/>
          </a:xfrm>
          <a:prstGeom prst="roundRect">
            <a:avLst/>
          </a:prstGeom>
          <a:solidFill>
            <a:srgbClr val="E2F4F2"/>
          </a:solidFill>
          <a:ln>
            <a:solidFill>
              <a:srgbClr val="E2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" y="5870448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10223B"/>
                </a:solidFill>
                <a:latin typeface="Aptos"/>
              </a:defRPr>
            </a:pPr>
            <a:r>
              <a:t>Ampliaciones recomendadas: concurrencia, claves incompatibles, crash del relay, lease vencido y lectura inmediata.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Calidad registrada en HANDOFF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Cifras documentadas del estado del proyecto; no reejecutadas en esta preparación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resumen fiel de los documentos aportados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901952"/>
            <a:ext cx="228600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  <a:defRPr sz="2800" b="1" i="0">
                <a:solidFill>
                  <a:srgbClr val="008E91"/>
                </a:solidFill>
                <a:latin typeface="Aptos"/>
              </a:defRPr>
            </a:pPr>
            <a:r>
              <a:t>333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70048"/>
            <a:ext cx="21488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100" b="1" i="0">
                <a:solidFill>
                  <a:srgbClr val="10223B"/>
                </a:solidFill>
                <a:latin typeface="Aptos"/>
              </a:defRPr>
            </a:pPr>
            <a:r>
              <a:t>tests unitarios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64592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8" y="1901952"/>
            <a:ext cx="228600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  <a:defRPr sz="2800" b="1" i="0">
                <a:solidFill>
                  <a:srgbClr val="346BA9"/>
                </a:solidFill>
                <a:latin typeface="Aptos"/>
              </a:defRPr>
            </a:pPr>
            <a:r>
              <a:t>308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670048"/>
            <a:ext cx="21488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100" b="1" i="0">
                <a:solidFill>
                  <a:srgbClr val="10223B"/>
                </a:solidFill>
                <a:latin typeface="Aptos"/>
              </a:defRPr>
            </a:pPr>
            <a:r>
              <a:t>tests de integración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64592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1901952"/>
            <a:ext cx="228600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  <a:defRPr sz="2800" b="1" i="0">
                <a:solidFill>
                  <a:srgbClr val="E8B03F"/>
                </a:solidFill>
                <a:latin typeface="Aptos"/>
              </a:defRPr>
            </a:pPr>
            <a:r>
              <a:t>209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670048"/>
            <a:ext cx="21488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100" b="1" i="0">
                <a:solidFill>
                  <a:srgbClr val="10223B"/>
                </a:solidFill>
                <a:latin typeface="Aptos"/>
              </a:defRPr>
            </a:pPr>
            <a:r>
              <a:t>pruebas web / Chromium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64592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5168" y="1901952"/>
            <a:ext cx="228600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  <a:defRPr sz="2800" b="1" i="0">
                <a:solidFill>
                  <a:srgbClr val="2C895E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670048"/>
            <a:ext cx="21488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100" b="1" i="0">
                <a:solidFill>
                  <a:srgbClr val="10223B"/>
                </a:solidFill>
                <a:latin typeface="Aptos"/>
              </a:defRPr>
            </a:pPr>
            <a:r>
              <a:t>mutaciones PIT detectadas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977639"/>
            <a:ext cx="102870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400" b="0" i="0">
                <a:solidFill>
                  <a:srgbClr val="223140"/>
                </a:solidFill>
                <a:latin typeface="Aptos"/>
              </a:defRPr>
            </a:pPr>
            <a:r>
              <a:t>JaCoCo registrado: 100 % de líneas y ramas en el dominio de precios; 99,2 % de líneas y 98,0 % de ramas en el servicio completo.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166360"/>
            <a:ext cx="10927080" cy="384048"/>
          </a:xfrm>
          <a:prstGeom prst="roundRect">
            <a:avLst/>
          </a:prstGeom>
          <a:solidFill>
            <a:srgbClr val="FAEBEB"/>
          </a:solidFill>
          <a:ln>
            <a:solidFill>
              <a:srgbClr val="FA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5202936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B44242"/>
                </a:solidFill>
                <a:latin typeface="Aptos"/>
              </a:defRPr>
            </a:pPr>
            <a:r>
              <a:t>Citar estas métricas como resultados del HANDOFF y asociarlas al commit/fecha antes de afirmar que siguen vigentes.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Tecnologías por responsabilidad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No es una lista de marcas: cada elección responde a una necesidad del diseño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resumen fiel de los documentos aportados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353312"/>
          <a:ext cx="10972800" cy="4956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2384"/>
                <a:gridCol w="7900416"/>
              </a:tblGrid>
              <a:tr h="70800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Responsabilidad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Stack documentado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Backend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Java 21 · Spring Boot 3.x · Spring JdbcClient · Maven Wrapper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Persistencia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PostgreSQL 17 · Liquibase · SQL explícito · UUIDv7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Frontend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Angular 22 · TypeScript · ngx-translate · Intl.NumberFormat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Pruebas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JUnit 5 · AssertJ · Testcontainers · ArchUnit · JaCoCo · PIT · Vitest · Playwright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Infraestructura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Docker · Docker Compose · Nginx reverse proxy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70801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Herramientas / docs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Node.js 24 · Python 3.11 · Markdown/YAML/JSON · SVG · LibreOffice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Decisiones y trade-offs del ADR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Defender la razón, el coste y lo que se dejó fuera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resumen fiel de los documentos aportados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353312"/>
          <a:ext cx="10972800" cy="4956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730752"/>
                <a:gridCol w="4498848"/>
              </a:tblGrid>
              <a:tr h="82600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Decisión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Beneficio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Coste / riesgo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</a:tr>
              <a:tr h="82600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Cotización sellada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Total estable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Precio erróneo se respeta hasta expirar salvo revocación disponible.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82600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BigDecimal y política por país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Precisión monetaria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Más disciplina y configuración explícita.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82600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JdbcClient, sin ORM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Control preciso de locks / SQL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Más mapeo manual y consultas explícitas.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82600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Monolito modular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Una transacción local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Contención en filas/cuentas de crédito activas.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82600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Outbox at-least-once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No perder intención local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Requiere deduplicación y operación de reintentos.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5897880"/>
            <a:ext cx="10927080" cy="384048"/>
          </a:xfrm>
          <a:prstGeom prst="roundRect">
            <a:avLst/>
          </a:prstGeom>
          <a:solidFill>
            <a:srgbClr val="FCF5E2"/>
          </a:solidFill>
          <a:ln>
            <a:solidFill>
              <a:srgbClr val="FCF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5934456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10223B"/>
                </a:solidFill>
                <a:latin typeface="Aptos"/>
              </a:defRPr>
            </a:pPr>
            <a:r>
              <a:t>Fuera de alcance según la documentación: autenticación real, pagos, cancelación, revocación operativa y app móvil nativa.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Posibles trampas de una revisión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Las que más directamente rompen las invariantes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resumen fiel de los documentos aportados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426464"/>
            <a:ext cx="109728" cy="109728"/>
          </a:xfrm>
          <a:prstGeom prst="roundRect">
            <a:avLst/>
          </a:prstGeom>
          <a:solidFill>
            <a:srgbClr val="B44242"/>
          </a:solidFill>
          <a:ln>
            <a:solidFill>
              <a:srgbClr val="B4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1325880"/>
            <a:ext cx="10533888" cy="502919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spcAft>
                <a:spcPts val="300"/>
              </a:spcAft>
              <a:defRPr sz="1550" b="0" i="0">
                <a:solidFill>
                  <a:srgbClr val="223140"/>
                </a:solidFill>
                <a:latin typeface="Aptos"/>
              </a:defRPr>
            </a:pPr>
            <a:r>
              <a:t>Recalcular el precio al confirmar o actualizar una cotización sellada.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947672"/>
            <a:ext cx="109728" cy="109728"/>
          </a:xfrm>
          <a:prstGeom prst="roundRect">
            <a:avLst/>
          </a:prstGeom>
          <a:solidFill>
            <a:srgbClr val="B44242"/>
          </a:solidFill>
          <a:ln>
            <a:solidFill>
              <a:srgbClr val="B4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5" y="1847088"/>
            <a:ext cx="10533888" cy="502919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spcAft>
                <a:spcPts val="300"/>
              </a:spcAft>
              <a:defRPr sz="1550" b="0" i="0">
                <a:solidFill>
                  <a:srgbClr val="223140"/>
                </a:solidFill>
                <a:latin typeface="Aptos"/>
              </a:defRPr>
            </a:pPr>
            <a:r>
              <a:t>Responder 201 antes del commit o no comprobar la lectura inmediata del pedido.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468879"/>
            <a:ext cx="109728" cy="109728"/>
          </a:xfrm>
          <a:prstGeom prst="roundRect">
            <a:avLst/>
          </a:prstGeom>
          <a:solidFill>
            <a:srgbClr val="B44242"/>
          </a:solidFill>
          <a:ln>
            <a:solidFill>
              <a:srgbClr val="B4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5" y="2368296"/>
            <a:ext cx="10533888" cy="502919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spcAft>
                <a:spcPts val="300"/>
              </a:spcAft>
              <a:defRPr sz="1550" b="0" i="0">
                <a:solidFill>
                  <a:srgbClr val="223140"/>
                </a:solidFill>
                <a:latin typeface="Aptos"/>
              </a:defRPr>
            </a:pPr>
            <a:r>
              <a:t>Usar float/double, redondear en el punto incorrecto o hardcodear monedas/tasas.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2990088"/>
            <a:ext cx="109728" cy="109728"/>
          </a:xfrm>
          <a:prstGeom prst="roundRect">
            <a:avLst/>
          </a:prstGeom>
          <a:solidFill>
            <a:srgbClr val="B44242"/>
          </a:solidFill>
          <a:ln>
            <a:solidFill>
              <a:srgbClr val="B4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5" y="2889504"/>
            <a:ext cx="10533888" cy="502919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spcAft>
                <a:spcPts val="300"/>
              </a:spcAft>
              <a:defRPr sz="1550" b="0" i="0">
                <a:solidFill>
                  <a:srgbClr val="223140"/>
                </a:solidFill>
                <a:latin typeface="Aptos"/>
              </a:defRPr>
            </a:pPr>
            <a:r>
              <a:t>Aplicar escala a unidades de combo o duplicar el descuento visible.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511295"/>
            <a:ext cx="109728" cy="109728"/>
          </a:xfrm>
          <a:prstGeom prst="roundRect">
            <a:avLst/>
          </a:prstGeom>
          <a:solidFill>
            <a:srgbClr val="B44242"/>
          </a:solidFill>
          <a:ln>
            <a:solidFill>
              <a:srgbClr val="B4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5" y="3410711"/>
            <a:ext cx="10533888" cy="502919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spcAft>
                <a:spcPts val="300"/>
              </a:spcAft>
              <a:defRPr sz="1550" b="0" i="0">
                <a:solidFill>
                  <a:srgbClr val="223140"/>
                </a:solidFill>
                <a:latin typeface="Aptos"/>
              </a:defRPr>
            </a:pPr>
            <a:r>
              <a:t>Generar nueva Idempotency-Key para cada reintento o aceptar una clave con cuerpo distinto.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032504"/>
            <a:ext cx="109728" cy="109728"/>
          </a:xfrm>
          <a:prstGeom prst="roundRect">
            <a:avLst/>
          </a:prstGeom>
          <a:solidFill>
            <a:srgbClr val="B44242"/>
          </a:solidFill>
          <a:ln>
            <a:solidFill>
              <a:srgbClr val="B4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3931920"/>
            <a:ext cx="10533888" cy="502919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spcAft>
                <a:spcPts val="300"/>
              </a:spcAft>
              <a:defRPr sz="1550" b="0" i="0">
                <a:solidFill>
                  <a:srgbClr val="223140"/>
                </a:solidFill>
                <a:latin typeface="Aptos"/>
              </a:defRPr>
            </a:pPr>
            <a:r>
              <a:t>Validar crédito fuera de la transacción; no probar confirmaciones concurrentes.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553712"/>
            <a:ext cx="109728" cy="109728"/>
          </a:xfrm>
          <a:prstGeom prst="roundRect">
            <a:avLst/>
          </a:prstGeom>
          <a:solidFill>
            <a:srgbClr val="B44242"/>
          </a:solidFill>
          <a:ln>
            <a:solidFill>
              <a:srgbClr val="B4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5" y="4453128"/>
            <a:ext cx="10533888" cy="502919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spcAft>
                <a:spcPts val="300"/>
              </a:spcAft>
              <a:defRPr sz="1550" b="0" i="0">
                <a:solidFill>
                  <a:srgbClr val="223140"/>
                </a:solidFill>
                <a:latin typeface="Aptos"/>
              </a:defRPr>
            </a:pPr>
            <a:r>
              <a:t>Hacer HTTP remoto dentro de la transacción o afirmar que Outbox entrega exactly-once.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5074920"/>
            <a:ext cx="109728" cy="109728"/>
          </a:xfrm>
          <a:prstGeom prst="roundRect">
            <a:avLst/>
          </a:prstGeom>
          <a:solidFill>
            <a:srgbClr val="B44242"/>
          </a:solidFill>
          <a:ln>
            <a:solidFill>
              <a:srgbClr val="B4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5" y="4974336"/>
            <a:ext cx="10533888" cy="502919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spcAft>
                <a:spcPts val="300"/>
              </a:spcAft>
              <a:defRPr sz="1550" b="0" i="0">
                <a:solidFill>
                  <a:srgbClr val="223140"/>
                </a:solidFill>
                <a:latin typeface="Aptos"/>
              </a:defRPr>
            </a:pPr>
            <a:r>
              <a:t>“Arreglar” un catálogo vacío desactivando el aislamiento multi-tenant.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596128"/>
            <a:ext cx="109728" cy="109728"/>
          </a:xfrm>
          <a:prstGeom prst="roundRect">
            <a:avLst/>
          </a:prstGeom>
          <a:solidFill>
            <a:srgbClr val="B44242"/>
          </a:solidFill>
          <a:ln>
            <a:solidFill>
              <a:srgbClr val="B4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5" y="5495544"/>
            <a:ext cx="10533888" cy="502919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spcAft>
                <a:spcPts val="300"/>
              </a:spcAft>
              <a:defRPr sz="1550" b="0" i="0">
                <a:solidFill>
                  <a:srgbClr val="223140"/>
                </a:solidFill>
                <a:latin typeface="Aptos"/>
              </a:defRPr>
            </a:pPr>
            <a:r>
              <a:t>Presentar una cifra del HANDOFF como una prueba ejecutada en la estación actual.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Guion de exposición en 15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Una ruta que cuenta la historia técnica sin saltar entre conceptos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resumen fiel de los documentos aportados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28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353312"/>
          <a:ext cx="10972800" cy="4956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5376"/>
                <a:gridCol w="2962656"/>
                <a:gridCol w="6144768"/>
              </a:tblGrid>
              <a:tr h="61950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Tiempo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Sección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Idea que debe quedar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00–02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Problema de negocio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Precio cambiante, 201 fantasma, eventos perdidos.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02–04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Arquitectura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Monolito modular, hexagonal y dominio puro.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04–07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Pricing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Orden de palancas, BigDecimal, cotización sellada.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07–10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Confirmación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ACID, idempotencia, crédito y 201 post-commit.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10–12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Outbox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At-least-once, lease y deduplicación.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12–14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Multi-tenancy y calidad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Diagnóstico de catálogo + pruebas documentadas.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14–15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Cierre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Trade-offs, límites del alcance y evidencias.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Preguntas que conviene ensayar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Responder siempre en tres pasos: garantía → mecanismo → prueba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resumen fiel de los documentos aportados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63624"/>
            <a:ext cx="109728" cy="109728"/>
          </a:xfrm>
          <a:prstGeom prst="round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463040"/>
            <a:ext cx="10351008" cy="70408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spcAft>
                <a:spcPts val="300"/>
              </a:spcAft>
              <a:defRPr sz="1700" b="0" i="0">
                <a:solidFill>
                  <a:srgbClr val="223140"/>
                </a:solidFill>
                <a:latin typeface="Aptos"/>
              </a:defRPr>
            </a:pPr>
            <a:r>
              <a:t>¿Por qué el pedido referencia una cotización y no vuelve a calcular el precio?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286000"/>
            <a:ext cx="109728" cy="109728"/>
          </a:xfrm>
          <a:prstGeom prst="round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185416"/>
            <a:ext cx="10351008" cy="70408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spcAft>
                <a:spcPts val="300"/>
              </a:spcAft>
              <a:defRPr sz="1700" b="0" i="0">
                <a:solidFill>
                  <a:srgbClr val="223140"/>
                </a:solidFill>
                <a:latin typeface="Aptos"/>
              </a:defRPr>
            </a:pPr>
            <a:r>
              <a:t>¿Qué garantiza Outbox y por qué el consumidor también debe deduplicar?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008376"/>
            <a:ext cx="109728" cy="109728"/>
          </a:xfrm>
          <a:prstGeom prst="round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2907792"/>
            <a:ext cx="10351008" cy="70408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spcAft>
                <a:spcPts val="300"/>
              </a:spcAft>
              <a:defRPr sz="1700" b="0" i="0">
                <a:solidFill>
                  <a:srgbClr val="223140"/>
                </a:solidFill>
                <a:latin typeface="Aptos"/>
              </a:defRPr>
            </a:pPr>
            <a:r>
              <a:t>¿Qué impide que dos pedidos concurrentes excedan el mismo cupo?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730752"/>
            <a:ext cx="109728" cy="109728"/>
          </a:xfrm>
          <a:prstGeom prst="round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3630168"/>
            <a:ext cx="10351008" cy="70408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spcAft>
                <a:spcPts val="300"/>
              </a:spcAft>
              <a:defRPr sz="1700" b="0" i="0">
                <a:solidFill>
                  <a:srgbClr val="223140"/>
                </a:solidFill>
                <a:latin typeface="Aptos"/>
              </a:defRPr>
            </a:pPr>
            <a:r>
              <a:t>¿Qué diferencia hay entre tenant, customer, tienda del selector y carrito?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453128"/>
            <a:ext cx="109728" cy="109728"/>
          </a:xfrm>
          <a:prstGeom prst="round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4352544"/>
            <a:ext cx="10351008" cy="70408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spcAft>
                <a:spcPts val="300"/>
              </a:spcAft>
              <a:defRPr sz="1700" b="0" i="0">
                <a:solidFill>
                  <a:srgbClr val="223140"/>
                </a:solidFill>
                <a:latin typeface="Aptos"/>
              </a:defRPr>
            </a:pPr>
            <a:r>
              <a:t>¿Cómo se demuestra que un 201 ya es durable y consultable?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175504"/>
            <a:ext cx="109728" cy="109728"/>
          </a:xfrm>
          <a:prstGeom prst="round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5074920"/>
            <a:ext cx="10351008" cy="70408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spcAft>
                <a:spcPts val="300"/>
              </a:spcAft>
              <a:defRPr sz="1700" b="0" i="0">
                <a:solidFill>
                  <a:srgbClr val="223140"/>
                </a:solidFill>
                <a:latin typeface="Aptos"/>
              </a:defRPr>
            </a:pPr>
            <a:r>
              <a:t>¿Qué resultados están registrados en HANDOFF y cuáles verificaste tú directamente?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56BCC6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FFFFFF"/>
                </a:solidFill>
                <a:latin typeface="Aptos"/>
              </a:defRPr>
            </a:pPr>
            <a:r>
              <a:t>Tres invariantes que debes recordar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56BCC6"/>
                </a:solidFill>
                <a:latin typeface="Aptos"/>
              </a:defRPr>
            </a:pPr>
            <a:r>
              <a:t>Y una regla para defender cada decisión técnica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resumen fiel de los documentos aportados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429000" cy="3063240"/>
          </a:xfrm>
          <a:prstGeom prst="roundRect">
            <a:avLst/>
          </a:prstGeom>
          <a:solidFill>
            <a:srgbClr val="183150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82296" cy="30632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627632"/>
            <a:ext cx="304495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G-1 · PRECIO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76272"/>
            <a:ext cx="3044952" cy="2221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D7E4EF"/>
                </a:solidFill>
                <a:latin typeface="Aptos"/>
              </a:defRPr>
            </a:pPr>
            <a:r>
              <a:t>Cotización sellada como fuente única de importes.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63040"/>
            <a:ext cx="3429000" cy="3063240"/>
          </a:xfrm>
          <a:prstGeom prst="roundRect">
            <a:avLst/>
          </a:prstGeom>
          <a:solidFill>
            <a:srgbClr val="183150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463040"/>
            <a:ext cx="82296" cy="3063240"/>
          </a:xfrm>
          <a:prstGeom prst="rect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627632"/>
            <a:ext cx="304495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G-3 / I-201 · PEDIDO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176272"/>
            <a:ext cx="3044952" cy="2221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D7E4EF"/>
                </a:solidFill>
                <a:latin typeface="Aptos"/>
              </a:defRPr>
            </a:pPr>
            <a:r>
              <a:t>Pedido + crédito + idempotencia + Outbox se confirman juntos. 201 después del commit.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463040"/>
            <a:ext cx="3429000" cy="3063240"/>
          </a:xfrm>
          <a:prstGeom prst="roundRect">
            <a:avLst/>
          </a:prstGeom>
          <a:solidFill>
            <a:srgbClr val="183150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463040"/>
            <a:ext cx="82296" cy="3063240"/>
          </a:xfrm>
          <a:prstGeom prst="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627632"/>
            <a:ext cx="304495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G-4 · EVENTOS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176272"/>
            <a:ext cx="3044952" cy="2221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D7E4EF"/>
                </a:solidFill>
                <a:latin typeface="Aptos"/>
              </a:defRPr>
            </a:pPr>
            <a:r>
              <a:t>Registro atómico, entrega al menos una vez y deduplicación en el receptor.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074920"/>
            <a:ext cx="102412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Para cada decisión: ¿qué garantía buscamos?, ¿qué mecanismo la protege?, ¿qué prueba lo demuestra?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fin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